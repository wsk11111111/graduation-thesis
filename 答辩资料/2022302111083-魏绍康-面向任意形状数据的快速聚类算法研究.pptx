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72" r:id="rId5"/>
    <p:sldId id="259" r:id="rId6"/>
    <p:sldId id="260" r:id="rId7"/>
    <p:sldId id="263" r:id="rId8"/>
    <p:sldId id="261" r:id="rId9"/>
    <p:sldId id="264" r:id="rId10"/>
    <p:sldId id="262" r:id="rId11"/>
    <p:sldId id="273" r:id="rId12"/>
    <p:sldId id="265" r:id="rId13"/>
    <p:sldId id="267" r:id="rId14"/>
    <p:sldId id="274" r:id="rId15"/>
    <p:sldId id="268" r:id="rId16"/>
    <p:sldId id="269" r:id="rId17"/>
    <p:sldId id="270" r:id="rId18"/>
    <p:sldId id="277" r:id="rId19"/>
    <p:sldId id="278" r:id="rId20"/>
    <p:sldId id="279" r:id="rId21"/>
    <p:sldId id="275" r:id="rId22"/>
    <p:sldId id="276" r:id="rId23"/>
    <p:sldId id="280" r:id="rId24"/>
    <p:sldId id="281" r:id="rId25"/>
    <p:sldId id="282" r:id="rId26"/>
    <p:sldId id="283" r:id="rId27"/>
    <p:sldId id="284" r:id="rId28"/>
    <p:sldId id="285" r:id="rId29"/>
    <p:sldId id="287" r:id="rId30"/>
    <p:sldId id="286" r:id="rId31"/>
    <p:sldId id="288" r:id="rId32"/>
    <p:sldId id="290" r:id="rId3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C9FF"/>
    <a:srgbClr val="C6BDFF"/>
    <a:srgbClr val="745DFF"/>
    <a:srgbClr val="8975FF"/>
    <a:srgbClr val="B7ABFF"/>
    <a:srgbClr val="0083E6"/>
    <a:srgbClr val="BEB3FF"/>
    <a:srgbClr val="000000"/>
    <a:srgbClr val="C93FBF"/>
    <a:srgbClr val="CC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E97DD5-5DA4-43FC-BF67-C7D3AFF3D636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C2F9D4-FDB5-4792-8A96-E83892A8C9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7267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895C8-C3A0-8E87-3644-7E9090C93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013CFCE-9AD1-C9A2-0607-6081173E6F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348CF8B-8023-A05E-0191-8FA78D03A6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D3D81E-AE1D-14D0-31FB-09D919E573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C2F9D4-FDB5-4792-8A96-E83892A8C90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8939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7B68D-CCCD-6545-6EAF-A630008B2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080DEC5-32D9-C160-591C-E9C1051BCA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5F3DE16-8C99-A98D-4EA0-0F775FEF59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4543A6-C246-0779-4B3B-363608A1E7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C2F9D4-FDB5-4792-8A96-E83892A8C90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1469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B0B75-136C-CCEA-A4F5-618AF49CB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A6CDEBD-23B7-A218-CE69-860DB2BC61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6ED352A-D28D-086D-0DD8-3B1B9C8AB0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804482-DCCC-106F-35BA-59F24F101C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C2F9D4-FDB5-4792-8A96-E83892A8C90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80826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210A6-8762-F361-2487-2D4401CB1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60CE864-EEC6-A8CA-831F-CF24C8F84C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9804E3F-5A8C-0385-F5D1-9BB76CD91F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2B7AA2-36F8-CCA9-48F3-5A9D635138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C2F9D4-FDB5-4792-8A96-E83892A8C90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51274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D3F91-3A1B-3E9F-3F13-3D0AD5D6C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E2CD6F9-1AC2-1821-57F5-A7D4B4FA94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46CF91C-C6EA-CA26-4CCC-793793DB93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A6D9AF-DB80-842D-E11D-C63F72633D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C2F9D4-FDB5-4792-8A96-E83892A8C90B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88120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B1EC9-CAA6-7B1E-4CBB-76D7DEA57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34411CF-493F-C0DC-FE93-5B7367C3CF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43AD6D1-AE21-3F4A-DA67-F35A384281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FBF930-2F1F-0360-F9C6-3A3472BCCB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C2F9D4-FDB5-4792-8A96-E83892A8C90B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77318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52135-271A-6E42-25B7-4815FA6AC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D8817EE-B397-AE07-7836-935CE6493F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D1D6892-2249-DBD6-4E9D-51DE59E5A9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79502DB-013C-CF16-C946-93FEDE0F37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C2F9D4-FDB5-4792-8A96-E83892A8C90B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19370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6623F-864E-EC3C-C63B-5B9AC932D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9A6C901-6A5A-F753-CDF5-661547A4CE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30CD379-AE6F-274F-783B-9E14340CEF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BC7055-F91F-D273-7DDE-F7A123B503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C2F9D4-FDB5-4792-8A96-E83892A8C90B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41517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2D2FA-0AE0-8379-0632-3C4A85A3C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9189ACE-DB6E-933A-5735-9CFD0C8460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5629218-48FC-FBDD-9E68-E9D1B13372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60C14E-EA13-24A9-CB7D-7EB38937D5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C2F9D4-FDB5-4792-8A96-E83892A8C90B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10124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F3917-1468-C901-83D0-3CB5F425B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42027F0-054B-4DDB-5911-6689C495B7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4706258-4B0F-CF1F-2D49-E01A40FB69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23CA13-2A7E-07D7-B455-D6699B4F36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C2F9D4-FDB5-4792-8A96-E83892A8C90B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15968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04D0F-30DE-DD01-E52C-95F2C707E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BA648FF-5BB5-97A6-3A47-5C29A4562D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05BAA07-583A-E26F-D7AE-5165F45BFE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0A6138-0738-9EBE-A27B-85AA458BA9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C2F9D4-FDB5-4792-8A96-E83892A8C90B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98969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0FFE1-4AE9-B814-4B32-8457F66DE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A175BE2-B22F-7F62-27CD-5B357BDBCE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0119047-DDCE-51B6-4B59-B8E90DC837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D12ACB-0579-3AF7-5759-70B263D285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C2F9D4-FDB5-4792-8A96-E83892A8C90B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48420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6678C-8596-9423-BE84-47D011055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5D5D867-4EC7-3749-4E1B-E83C9DA0EE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B65B63D-6606-1C6F-3AB8-8A81813793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2630D0-8141-DA4A-AA59-7DC751531D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C2F9D4-FDB5-4792-8A96-E83892A8C90B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92014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88817-4129-F536-46E8-6DDBEDD60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8D11B16-58D0-7075-1E97-BEC71BEFF0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EC27686-3EA1-5BFF-0D44-D02F5769CE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E3424C-79E9-09A8-6C42-C2AEA6FB4B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C2F9D4-FDB5-4792-8A96-E83892A8C90B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56502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ABD3B-50E1-0993-4D1C-AD8E497F0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01F04B5-2F11-2C8A-B146-326D1333A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1D133C4-78A3-0FC6-A743-5C93768723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C2458E-E20F-82E7-78B6-95DC7F61F3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C2F9D4-FDB5-4792-8A96-E83892A8C90B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57011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C5FBF-B931-2C03-343B-68A988304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B6CF638-789F-8247-5604-1A508CDB2E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AE63046-F047-B707-F9F6-AF14D548BB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1DD38B4-A007-233D-BE7D-707837B820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C2F9D4-FDB5-4792-8A96-E83892A8C90B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624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9872B2-4F99-6301-9B47-66B93D8CD3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E048662-0F47-A586-FC36-9BEE7EDE93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D6D3DC-3E50-3B5A-3116-95B46281BE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65BBBD-40ED-49BF-AC81-28F7DB799435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7756F0-906D-5B2C-EAB7-184A0C5BE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ED51D9-A4EC-1216-DCE9-9792ACA11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AF784FC-7FB9-4639-BBF2-80F1CB114F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5661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23EA1D-9A39-07CB-122F-E3ECA27A0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B55A2B-CDF1-8AE8-B4D2-A09C0FA103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2986EB-99BB-EE4C-B546-6FF7BD857F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65BBBD-40ED-49BF-AC81-28F7DB799435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3D7B16-51BF-DD8C-03F3-E7D33C397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D3DC98-EFEF-C04F-DCE6-727719FBA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AF784FC-7FB9-4639-BBF2-80F1CB114F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452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6EBCC0-2E22-95C1-8B32-B7E4DCC29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D7E564D-67BE-2D6E-CA6A-FB5B5668D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36BB0A-516B-D4A5-CC7E-EB33B77F0A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65BBBD-40ED-49BF-AC81-28F7DB799435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7C6859-3EE3-3FD3-1C84-BEC454BA5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FB060A-8D07-7794-393A-C31BFDFBE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AF784FC-7FB9-4639-BBF2-80F1CB114F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5232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D8F457-E5AB-D6AD-7987-F662A7239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E9DA96-EC22-0E7E-D41D-6BA47A3CB2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F0BC226-D5C3-41C6-19EA-3151CBC86A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352B4DC-1FCB-268E-BBD9-8D9790111A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65BBBD-40ED-49BF-AC81-28F7DB799435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BC9437-38A0-E712-64E3-A663AD2B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97DEED-1271-C96B-5BB2-E52B080AD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AF784FC-7FB9-4639-BBF2-80F1CB114F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5262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D0A437-C552-3D33-661F-8128EB55E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3D1B6D-2EC9-3DC0-1A41-3DDD951A9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54BD6F7-7CDC-2A34-9D39-D58B2FAA73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CF6B1B6-77D5-B6B7-30E6-C578BC47FE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DE968EC-40A4-D308-3A37-080D2DC939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FD075A1-D0E8-83CA-090C-A5E26F0177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65BBBD-40ED-49BF-AC81-28F7DB799435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CA97D0D-1215-B77B-476B-C7D4B9745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4E582B4-F2FD-825E-C4E9-C126EF9C2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AF784FC-7FB9-4639-BBF2-80F1CB114F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8937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3A322E-0C5D-1BFA-B25D-750A16C90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0560A19-0CDF-1BA3-134E-0A5627D739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65BBBD-40ED-49BF-AC81-28F7DB799435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4BD4A0-67CE-B0E4-3853-4D4DB28C3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4BF06-7D62-06A0-6748-16BB26F43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AF784FC-7FB9-4639-BBF2-80F1CB114F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466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BFA0A14-9F75-9EF9-9A3F-0043701CB2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65BBBD-40ED-49BF-AC81-28F7DB799435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0C8CFAF-6438-CB33-3876-A6155D8AD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691675-82BD-9951-6001-657870CE5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AF784FC-7FB9-4639-BBF2-80F1CB114F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7050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37CB3B-1E40-EE58-8569-ED962FBE7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B5A2BF-D3D8-DFBB-8512-65762C925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DC5EF34-87A8-8CCE-EF81-31E32CC779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86CD155-9543-0475-369A-6D24D697FF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65BBBD-40ED-49BF-AC81-28F7DB799435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B5A0375-48EF-8780-F5E0-FDF9970A3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1B3932-D20C-FF52-8114-881FC0233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AF784FC-7FB9-4639-BBF2-80F1CB114F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6947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FDD93-E006-2B78-1AC0-3B76128E3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E25C794-CFC9-ECF8-FF57-C2E2D66A92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DA32CDC-DCED-7AC6-73C3-051CE3D1C7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2971CC8-A8E2-69F5-B8E6-E361D38C68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65BBBD-40ED-49BF-AC81-28F7DB799435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621D3F6-DEAC-9FE3-BEF6-FFFB4908D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826D963-A680-5DC0-3BA4-7E62B11B8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AF784FC-7FB9-4639-BBF2-80F1CB114F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2055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400D38-5AE9-091D-69C0-55B1B6BD3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8DF18FC-9496-381E-09A1-A11CBBB09F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EF83CB-FD6A-21AB-B8A2-49E1BDB5BB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65BBBD-40ED-49BF-AC81-28F7DB799435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B5B2B8-54BA-8BB2-96C1-817A3A2F9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D261C7-2429-1F49-3437-6BD017DDB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AF784FC-7FB9-4639-BBF2-80F1CB114F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6323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C2CEC77-D1DF-13DC-3C9A-4665FAF13B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A5E6223-C88B-D9D6-4CE1-0C7926908C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548BF8-92A8-3091-2148-5A8436F224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65BBBD-40ED-49BF-AC81-28F7DB799435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E873F3-8A9E-673C-8720-A3C9631FE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DB93A6-1B45-2891-EAEF-4F71CFFB7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AF784FC-7FB9-4639-BBF2-80F1CB114F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3830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F71BCB-F374-8066-3682-8B13C6D60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1C2EFBB-02FB-3F0B-F85D-83D592CF7D91}"/>
              </a:ext>
            </a:extLst>
          </p:cNvPr>
          <p:cNvSpPr/>
          <p:nvPr userDrawn="1"/>
        </p:nvSpPr>
        <p:spPr>
          <a:xfrm>
            <a:off x="0" y="1"/>
            <a:ext cx="12191999" cy="768626"/>
          </a:xfrm>
          <a:prstGeom prst="rect">
            <a:avLst/>
          </a:prstGeom>
          <a:gradFill flip="none" rotWithShape="1">
            <a:gsLst>
              <a:gs pos="100000">
                <a:srgbClr val="D1C9FF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901F08FF-35A9-1567-A90D-D465E5242F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71" t="5211" r="7326" b="4323"/>
          <a:stretch>
            <a:fillRect/>
          </a:stretch>
        </p:blipFill>
        <p:spPr>
          <a:xfrm>
            <a:off x="10791571" y="134938"/>
            <a:ext cx="774449" cy="768626"/>
          </a:xfrm>
          <a:prstGeom prst="ellipse">
            <a:avLst/>
          </a:prstGeom>
        </p:spPr>
      </p:pic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BBC7678-3DEB-74AE-8757-9E0B98F34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此处编辑母版标题样式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0D62554-4239-2981-818F-C0EB08F33D65}"/>
              </a:ext>
            </a:extLst>
          </p:cNvPr>
          <p:cNvSpPr/>
          <p:nvPr userDrawn="1"/>
        </p:nvSpPr>
        <p:spPr>
          <a:xfrm>
            <a:off x="-1" y="6089374"/>
            <a:ext cx="12191999" cy="768626"/>
          </a:xfrm>
          <a:prstGeom prst="rect">
            <a:avLst/>
          </a:prstGeom>
          <a:gradFill flip="none" rotWithShape="1">
            <a:gsLst>
              <a:gs pos="100000">
                <a:srgbClr val="D1C9FF"/>
              </a:gs>
              <a:gs pos="0">
                <a:schemeClr val="bg1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1" name="Picture 2">
            <a:extLst>
              <a:ext uri="{FF2B5EF4-FFF2-40B4-BE49-F238E27FC236}">
                <a16:creationId xmlns:a16="http://schemas.microsoft.com/office/drawing/2014/main" id="{9DE07922-E2C3-2C32-BD2B-3C3CD6FF24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5215" y="6362416"/>
            <a:ext cx="1772713" cy="394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3004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D0825020-C213-4E3D-B16A-955AF150FED9}"/>
              </a:ext>
            </a:extLst>
          </p:cNvPr>
          <p:cNvSpPr/>
          <p:nvPr/>
        </p:nvSpPr>
        <p:spPr>
          <a:xfrm>
            <a:off x="0" y="1368057"/>
            <a:ext cx="12192000" cy="2551814"/>
          </a:xfrm>
          <a:prstGeom prst="rect">
            <a:avLst/>
          </a:prstGeom>
          <a:solidFill>
            <a:srgbClr val="745D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6D243E0-1FAC-49E7-5DA5-41485EB66A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面向任意形状数据的 </a:t>
            </a:r>
            <a:b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快速聚类算法研究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3F2E77BC-481B-3893-9845-4BC1BD92F5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8030897"/>
              </p:ext>
            </p:extLst>
          </p:nvPr>
        </p:nvGraphicFramePr>
        <p:xfrm>
          <a:off x="4859234" y="4165565"/>
          <a:ext cx="3338313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0155">
                  <a:extLst>
                    <a:ext uri="{9D8B030D-6E8A-4147-A177-3AD203B41FA5}">
                      <a16:colId xmlns:a16="http://schemas.microsoft.com/office/drawing/2014/main" val="2168274187"/>
                    </a:ext>
                  </a:extLst>
                </a:gridCol>
                <a:gridCol w="2098158">
                  <a:extLst>
                    <a:ext uri="{9D8B030D-6E8A-4147-A177-3AD203B41FA5}">
                      <a16:colId xmlns:a16="http://schemas.microsoft.com/office/drawing/2014/main" val="35912626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solidFill>
                            <a:schemeClr val="tx1"/>
                          </a:solidFill>
                        </a:rPr>
                        <a:t>答辩 人：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solidFill>
                            <a:schemeClr val="tx1"/>
                          </a:solidFill>
                        </a:rPr>
                        <a:t>魏绍康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085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专     业：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计算机科学与技术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9654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导     师：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黄浩 教授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112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时     间：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2026</a:t>
                      </a:r>
                      <a:r>
                        <a:rPr lang="zh-CN" altLang="en-US" dirty="0"/>
                        <a:t>年</a:t>
                      </a:r>
                      <a:r>
                        <a:rPr lang="en-US" altLang="zh-CN" dirty="0"/>
                        <a:t>5</a:t>
                      </a:r>
                      <a:r>
                        <a:rPr lang="zh-CN" altLang="en-US" dirty="0"/>
                        <a:t>月</a:t>
                      </a:r>
                      <a:r>
                        <a:rPr lang="en-US" altLang="zh-CN" dirty="0"/>
                        <a:t>8</a:t>
                      </a:r>
                      <a:r>
                        <a:rPr lang="zh-CN" altLang="en-US" dirty="0"/>
                        <a:t>日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228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9786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1962D0-1C50-F9C7-31F0-05B0E4B66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C4D42C-D009-6D26-6626-76E261269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CN" altLang="en-US" b="1" dirty="0"/>
              <a:t>研究背景与意义</a:t>
            </a:r>
            <a:endParaRPr lang="en-US" altLang="zh-CN" b="1" dirty="0"/>
          </a:p>
          <a:p>
            <a:pPr marL="514350" indent="-514350">
              <a:buFont typeface="+mj-lt"/>
              <a:buAutoNum type="arabicPeriod"/>
            </a:pPr>
            <a:r>
              <a:rPr lang="en-US" altLang="zh-CN" b="1" dirty="0"/>
              <a:t>FASCA</a:t>
            </a:r>
            <a:r>
              <a:rPr lang="zh-CN" altLang="en-US" b="1" dirty="0"/>
              <a:t>算法设计思路</a:t>
            </a:r>
            <a:endParaRPr lang="en-US" altLang="zh-CN" b="1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b="1" dirty="0"/>
              <a:t>算法总结与分析</a:t>
            </a:r>
            <a:endParaRPr lang="en-US" altLang="zh-CN" b="1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b="1" dirty="0"/>
              <a:t>实验环境与设置</a:t>
            </a:r>
            <a:endParaRPr lang="en-US" altLang="zh-CN" b="1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b="1" dirty="0"/>
              <a:t>实验结果分析</a:t>
            </a:r>
            <a:endParaRPr lang="en-US" altLang="zh-CN" b="1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b="1" dirty="0"/>
              <a:t>总结与展望</a:t>
            </a:r>
          </a:p>
        </p:txBody>
      </p:sp>
    </p:spTree>
    <p:extLst>
      <p:ext uri="{BB962C8B-B14F-4D97-AF65-F5344CB8AC3E}">
        <p14:creationId xmlns:p14="http://schemas.microsoft.com/office/powerpoint/2010/main" val="101423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D5E17-7648-3BE6-0242-55FE85759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4F0215-CC22-73C9-B9FA-EE9896C47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研究背景与意义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DC8936-B794-8151-1939-BA89E5001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5739809" cy="4351338"/>
          </a:xfrm>
        </p:spPr>
        <p:txBody>
          <a:bodyPr/>
          <a:lstStyle/>
          <a:p>
            <a:r>
              <a:rPr lang="zh-CN" altLang="en-US" b="1" dirty="0"/>
              <a:t>研究背景： </a:t>
            </a:r>
            <a:r>
              <a:rPr lang="zh-CN" altLang="en-US" dirty="0"/>
              <a:t>现实数据往往呈现复杂的非凸、任意形状。</a:t>
            </a:r>
            <a:endParaRPr lang="en-US" altLang="zh-CN" dirty="0"/>
          </a:p>
          <a:p>
            <a:r>
              <a:rPr lang="zh-CN" altLang="en-US" b="1" dirty="0"/>
              <a:t>现有问题：</a:t>
            </a:r>
            <a:endParaRPr lang="en-US" altLang="zh-CN" b="1" dirty="0"/>
          </a:p>
          <a:p>
            <a:pPr lvl="1"/>
            <a:r>
              <a:rPr lang="en-US" altLang="zh-CN" dirty="0"/>
              <a:t>K-Means</a:t>
            </a:r>
            <a:r>
              <a:rPr lang="zh-CN" altLang="en-US" dirty="0"/>
              <a:t>算法只能处理球状数据。</a:t>
            </a:r>
            <a:endParaRPr lang="en-US" altLang="zh-CN" dirty="0"/>
          </a:p>
          <a:p>
            <a:pPr lvl="1"/>
            <a:r>
              <a:rPr lang="zh-CN" altLang="en-US" dirty="0"/>
              <a:t>基于密度的方法处理数据效率低。</a:t>
            </a:r>
            <a:endParaRPr lang="en-US" altLang="zh-CN" dirty="0"/>
          </a:p>
          <a:p>
            <a:pPr lvl="1"/>
            <a:r>
              <a:rPr lang="zh-CN" altLang="en-US" dirty="0"/>
              <a:t>随机采样方法易破坏数据拓扑结构。</a:t>
            </a:r>
            <a:endParaRPr lang="en-US" altLang="zh-CN" dirty="0"/>
          </a:p>
          <a:p>
            <a:r>
              <a:rPr lang="zh-CN" altLang="en-US" b="1" dirty="0"/>
              <a:t>目标：</a:t>
            </a:r>
            <a:r>
              <a:rPr lang="zh-CN" altLang="en-US" dirty="0"/>
              <a:t>保证准确率、提高效率。</a:t>
            </a:r>
          </a:p>
          <a:p>
            <a:endParaRPr lang="en-US" altLang="zh-CN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8F499CB-2929-3A78-11CB-3F032CF33A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1223" y="743403"/>
            <a:ext cx="3206231" cy="249001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7DC5B58-4DC0-73E3-19C4-3A7EB0D404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1223" y="3704416"/>
            <a:ext cx="3206231" cy="2490010"/>
          </a:xfrm>
          <a:prstGeom prst="rect">
            <a:avLst/>
          </a:prstGeom>
        </p:spPr>
      </p:pic>
      <p:sp>
        <p:nvSpPr>
          <p:cNvPr id="10" name="箭头: 下 9">
            <a:extLst>
              <a:ext uri="{FF2B5EF4-FFF2-40B4-BE49-F238E27FC236}">
                <a16:creationId xmlns:a16="http://schemas.microsoft.com/office/drawing/2014/main" id="{05EA229B-18CE-F1E1-8CE1-F004A8B41C0E}"/>
              </a:ext>
            </a:extLst>
          </p:cNvPr>
          <p:cNvSpPr/>
          <p:nvPr/>
        </p:nvSpPr>
        <p:spPr>
          <a:xfrm>
            <a:off x="8643257" y="3275555"/>
            <a:ext cx="686597" cy="382046"/>
          </a:xfrm>
          <a:prstGeom prst="downArrow">
            <a:avLst/>
          </a:prstGeom>
          <a:solidFill>
            <a:srgbClr val="8975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BBAD4B0-5DAF-F6C1-C898-5EFCEE8CE11E}"/>
              </a:ext>
            </a:extLst>
          </p:cNvPr>
          <p:cNvSpPr txBox="1"/>
          <p:nvPr/>
        </p:nvSpPr>
        <p:spPr>
          <a:xfrm>
            <a:off x="10487454" y="1798051"/>
            <a:ext cx="1213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K-Means</a:t>
            </a:r>
            <a:endParaRPr lang="zh-CN" altLang="en-US" b="1" dirty="0">
              <a:solidFill>
                <a:srgbClr val="745D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626177A-0416-69CA-28D2-37745A381352}"/>
              </a:ext>
            </a:extLst>
          </p:cNvPr>
          <p:cNvSpPr txBox="1"/>
          <p:nvPr/>
        </p:nvSpPr>
        <p:spPr>
          <a:xfrm>
            <a:off x="10487454" y="476475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理想结果</a:t>
            </a:r>
          </a:p>
        </p:txBody>
      </p:sp>
    </p:spTree>
    <p:extLst>
      <p:ext uri="{BB962C8B-B14F-4D97-AF65-F5344CB8AC3E}">
        <p14:creationId xmlns:p14="http://schemas.microsoft.com/office/powerpoint/2010/main" val="1449652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A91C7-C23C-9B83-BD6A-F5B637A7C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DA3543-E625-22B2-256C-C1637BEC6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A4930A-73F7-A9D4-0B00-14BFC73E1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CN" altLang="en-US" b="1" dirty="0">
                <a:solidFill>
                  <a:schemeClr val="bg2">
                    <a:lumMod val="75000"/>
                  </a:schemeClr>
                </a:solidFill>
              </a:rPr>
              <a:t>研究背景与意义</a:t>
            </a:r>
            <a:endParaRPr lang="en-US" altLang="zh-CN" b="1" dirty="0">
              <a:solidFill>
                <a:schemeClr val="bg2">
                  <a:lumMod val="7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CN" b="1" dirty="0"/>
              <a:t>FASCA</a:t>
            </a:r>
            <a:r>
              <a:rPr lang="zh-CN" altLang="en-US" b="1" dirty="0"/>
              <a:t>算法设计思路</a:t>
            </a:r>
            <a:endParaRPr lang="en-US" altLang="zh-CN" b="1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b="1" dirty="0"/>
              <a:t>算法总结与分析</a:t>
            </a:r>
            <a:endParaRPr lang="en-US" altLang="zh-CN" b="1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b="1" dirty="0"/>
              <a:t>实验环境与设置</a:t>
            </a:r>
            <a:endParaRPr lang="en-US" altLang="zh-CN" b="1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b="1" dirty="0"/>
              <a:t>实验结果分析</a:t>
            </a:r>
            <a:endParaRPr lang="en-US" altLang="zh-CN" b="1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b="1" dirty="0"/>
              <a:t>总结与展望</a:t>
            </a:r>
          </a:p>
        </p:txBody>
      </p:sp>
    </p:spTree>
    <p:extLst>
      <p:ext uri="{BB962C8B-B14F-4D97-AF65-F5344CB8AC3E}">
        <p14:creationId xmlns:p14="http://schemas.microsoft.com/office/powerpoint/2010/main" val="3851536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97ECE-37B5-3F7A-BE25-570F3AED6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D691B0-4FE1-28BB-9D99-3F23014E0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FASCA</a:t>
            </a:r>
            <a:r>
              <a:rPr lang="zh-CN" altLang="en-US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算法设计思路</a:t>
            </a:r>
          </a:p>
        </p:txBody>
      </p:sp>
      <p:pic>
        <p:nvPicPr>
          <p:cNvPr id="41" name="Picture 3" descr="1">
            <a:extLst>
              <a:ext uri="{FF2B5EF4-FFF2-40B4-BE49-F238E27FC236}">
                <a16:creationId xmlns:a16="http://schemas.microsoft.com/office/drawing/2014/main" id="{D7F53901-5710-3D7E-B72D-A30B6EC0AC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9145" y="3957016"/>
            <a:ext cx="2232096" cy="1743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" name="Picture 4" descr="2">
            <a:extLst>
              <a:ext uri="{FF2B5EF4-FFF2-40B4-BE49-F238E27FC236}">
                <a16:creationId xmlns:a16="http://schemas.microsoft.com/office/drawing/2014/main" id="{089E9D75-F053-E70B-3A68-7D9AA7ACD6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8473" y="2098738"/>
            <a:ext cx="2180476" cy="1655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" name="Picture 5" descr="3 - Copy">
            <a:extLst>
              <a:ext uri="{FF2B5EF4-FFF2-40B4-BE49-F238E27FC236}">
                <a16:creationId xmlns:a16="http://schemas.microsoft.com/office/drawing/2014/main" id="{BB087724-066C-2150-4058-29323E6192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1932" y="3957016"/>
            <a:ext cx="2153334" cy="1646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" name="Picture 6" descr="4">
            <a:extLst>
              <a:ext uri="{FF2B5EF4-FFF2-40B4-BE49-F238E27FC236}">
                <a16:creationId xmlns:a16="http://schemas.microsoft.com/office/drawing/2014/main" id="{987E502A-3A30-B8B9-F4A3-E2A7D5774A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701" y="2077801"/>
            <a:ext cx="2153334" cy="16919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" name="Picture 7" descr="6 - Copy">
            <a:extLst>
              <a:ext uri="{FF2B5EF4-FFF2-40B4-BE49-F238E27FC236}">
                <a16:creationId xmlns:a16="http://schemas.microsoft.com/office/drawing/2014/main" id="{E5126B84-5D9C-EFA1-7FC1-F5BD703A9A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5957" y="3901827"/>
            <a:ext cx="2090000" cy="1646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" name="AutoShape 8">
            <a:extLst>
              <a:ext uri="{FF2B5EF4-FFF2-40B4-BE49-F238E27FC236}">
                <a16:creationId xmlns:a16="http://schemas.microsoft.com/office/drawing/2014/main" id="{0A7897C3-749B-4C29-A2DA-BDE59B2FDA97}"/>
              </a:ext>
            </a:extLst>
          </p:cNvPr>
          <p:cNvSpPr>
            <a:spLocks noChangeArrowheads="1"/>
          </p:cNvSpPr>
          <p:nvPr/>
        </p:nvSpPr>
        <p:spPr bwMode="auto">
          <a:xfrm rot="7860000" flipH="1">
            <a:off x="3415756" y="3787052"/>
            <a:ext cx="352425" cy="147638"/>
          </a:xfrm>
          <a:prstGeom prst="rightArrow">
            <a:avLst>
              <a:gd name="adj1" fmla="val 50000"/>
              <a:gd name="adj2" fmla="val 59677"/>
            </a:avLst>
          </a:prstGeom>
          <a:solidFill>
            <a:srgbClr val="8975FF"/>
          </a:solidFill>
          <a:ln w="9525">
            <a:noFill/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rgbClr val="745DFF"/>
              </a:solidFill>
            </a:endParaRPr>
          </a:p>
        </p:txBody>
      </p:sp>
      <p:sp>
        <p:nvSpPr>
          <p:cNvPr id="47" name="AutoShape 9">
            <a:extLst>
              <a:ext uri="{FF2B5EF4-FFF2-40B4-BE49-F238E27FC236}">
                <a16:creationId xmlns:a16="http://schemas.microsoft.com/office/drawing/2014/main" id="{C20A799D-3015-ABE6-3A46-A51BA9511785}"/>
              </a:ext>
            </a:extLst>
          </p:cNvPr>
          <p:cNvSpPr>
            <a:spLocks noChangeArrowheads="1"/>
          </p:cNvSpPr>
          <p:nvPr/>
        </p:nvSpPr>
        <p:spPr bwMode="auto">
          <a:xfrm rot="13740000" flipH="1" flipV="1">
            <a:off x="5175207" y="3800372"/>
            <a:ext cx="352425" cy="147637"/>
          </a:xfrm>
          <a:prstGeom prst="rightArrow">
            <a:avLst>
              <a:gd name="adj1" fmla="val 50000"/>
              <a:gd name="adj2" fmla="val 59678"/>
            </a:avLst>
          </a:prstGeom>
          <a:solidFill>
            <a:srgbClr val="8975FF"/>
          </a:solidFill>
          <a:ln w="9525">
            <a:noFill/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48" name="AutoShape 10">
            <a:extLst>
              <a:ext uri="{FF2B5EF4-FFF2-40B4-BE49-F238E27FC236}">
                <a16:creationId xmlns:a16="http://schemas.microsoft.com/office/drawing/2014/main" id="{674123AD-6E6E-D54D-26EE-9B0E23AEA1F8}"/>
              </a:ext>
            </a:extLst>
          </p:cNvPr>
          <p:cNvSpPr>
            <a:spLocks noChangeArrowheads="1"/>
          </p:cNvSpPr>
          <p:nvPr/>
        </p:nvSpPr>
        <p:spPr bwMode="auto">
          <a:xfrm rot="7860000" flipH="1">
            <a:off x="7200151" y="3750735"/>
            <a:ext cx="352425" cy="147638"/>
          </a:xfrm>
          <a:prstGeom prst="rightArrow">
            <a:avLst>
              <a:gd name="adj1" fmla="val 50000"/>
              <a:gd name="adj2" fmla="val 59677"/>
            </a:avLst>
          </a:prstGeom>
          <a:solidFill>
            <a:srgbClr val="8975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49" name="AutoShape 11">
            <a:extLst>
              <a:ext uri="{FF2B5EF4-FFF2-40B4-BE49-F238E27FC236}">
                <a16:creationId xmlns:a16="http://schemas.microsoft.com/office/drawing/2014/main" id="{3360695D-AC15-9063-3AD2-66A175E1C60D}"/>
              </a:ext>
            </a:extLst>
          </p:cNvPr>
          <p:cNvSpPr>
            <a:spLocks noChangeArrowheads="1"/>
          </p:cNvSpPr>
          <p:nvPr/>
        </p:nvSpPr>
        <p:spPr bwMode="auto">
          <a:xfrm rot="13740000" flipH="1" flipV="1">
            <a:off x="8798104" y="3725052"/>
            <a:ext cx="352425" cy="146050"/>
          </a:xfrm>
          <a:prstGeom prst="rightArrow">
            <a:avLst>
              <a:gd name="adj1" fmla="val 50000"/>
              <a:gd name="adj2" fmla="val 60326"/>
            </a:avLst>
          </a:prstGeom>
          <a:solidFill>
            <a:srgbClr val="8975FF"/>
          </a:solidFill>
          <a:ln w="9525">
            <a:noFill/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50" name="Text Box 12">
            <a:extLst>
              <a:ext uri="{FF2B5EF4-FFF2-40B4-BE49-F238E27FC236}">
                <a16:creationId xmlns:a16="http://schemas.microsoft.com/office/drawing/2014/main" id="{5F913D6C-EACF-970D-BA51-AFDE0554BF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6277" y="5661469"/>
            <a:ext cx="21955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5125" indent="-255588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745DFF"/>
                </a:solidFill>
                <a:latin typeface="Georgia" panose="02040502050405020303" pitchFamily="18" charset="0"/>
                <a:sym typeface="Arial" panose="020B0604020202020204" pitchFamily="34" charset="0"/>
              </a:rPr>
              <a:t>原始数据集</a:t>
            </a:r>
          </a:p>
        </p:txBody>
      </p:sp>
      <p:sp>
        <p:nvSpPr>
          <p:cNvPr id="51" name="Text Box 13">
            <a:extLst>
              <a:ext uri="{FF2B5EF4-FFF2-40B4-BE49-F238E27FC236}">
                <a16:creationId xmlns:a16="http://schemas.microsoft.com/office/drawing/2014/main" id="{346D0949-733C-2505-2699-9ADDB92682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1894" y="1567306"/>
            <a:ext cx="30956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5125" indent="-255588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745DFF"/>
                </a:solidFill>
                <a:latin typeface="Georgia" panose="02040502050405020303" pitchFamily="18" charset="0"/>
                <a:sym typeface="Arial" panose="020B0604020202020204" pitchFamily="34" charset="0"/>
              </a:rPr>
              <a:t>步骤 </a:t>
            </a:r>
            <a:r>
              <a:rPr lang="en-US" altLang="zh-CN" b="1" dirty="0">
                <a:solidFill>
                  <a:srgbClr val="745DFF"/>
                </a:solidFill>
                <a:latin typeface="Georgia" panose="02040502050405020303" pitchFamily="18" charset="0"/>
                <a:sym typeface="Arial" panose="020B0604020202020204" pitchFamily="34" charset="0"/>
              </a:rPr>
              <a:t>1</a:t>
            </a:r>
            <a:r>
              <a:rPr lang="zh-CN" altLang="en-US" b="1" dirty="0">
                <a:solidFill>
                  <a:srgbClr val="745DFF"/>
                </a:solidFill>
                <a:latin typeface="Georgia" panose="02040502050405020303" pitchFamily="18" charset="0"/>
                <a:sym typeface="Arial" panose="020B0604020202020204" pitchFamily="34" charset="0"/>
              </a:rPr>
              <a:t>:</a:t>
            </a:r>
          </a:p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745DFF"/>
                </a:solidFill>
                <a:latin typeface="Georgia" panose="02040502050405020303" pitchFamily="18" charset="0"/>
                <a:sym typeface="Arial" panose="020B0604020202020204" pitchFamily="34" charset="0"/>
              </a:rPr>
              <a:t>形状保持采样 </a:t>
            </a:r>
          </a:p>
        </p:txBody>
      </p:sp>
      <p:sp>
        <p:nvSpPr>
          <p:cNvPr id="52" name="Text Box 14">
            <a:extLst>
              <a:ext uri="{FF2B5EF4-FFF2-40B4-BE49-F238E27FC236}">
                <a16:creationId xmlns:a16="http://schemas.microsoft.com/office/drawing/2014/main" id="{EAC17626-5F30-3E85-4A4D-5899B937F9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5978" y="5603682"/>
            <a:ext cx="504031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5125" indent="-255588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745DFF"/>
                </a:solidFill>
                <a:latin typeface="Georgia" panose="02040502050405020303" pitchFamily="18" charset="0"/>
                <a:sym typeface="Arial" panose="020B0604020202020204" pitchFamily="34" charset="0"/>
              </a:rPr>
              <a:t>步骤 </a:t>
            </a:r>
            <a:r>
              <a:rPr lang="en-US" altLang="zh-CN" b="1" dirty="0">
                <a:solidFill>
                  <a:srgbClr val="745DFF"/>
                </a:solidFill>
                <a:latin typeface="Georgia" panose="02040502050405020303" pitchFamily="18" charset="0"/>
                <a:sym typeface="Arial" panose="020B0604020202020204" pitchFamily="34" charset="0"/>
              </a:rPr>
              <a:t>2</a:t>
            </a:r>
            <a:r>
              <a:rPr lang="zh-CN" altLang="en-US" b="1" dirty="0">
                <a:solidFill>
                  <a:srgbClr val="745DFF"/>
                </a:solidFill>
                <a:latin typeface="Georgia" panose="02040502050405020303" pitchFamily="18" charset="0"/>
                <a:sym typeface="Arial" panose="020B0604020202020204" pitchFamily="34" charset="0"/>
              </a:rPr>
              <a:t>:</a:t>
            </a:r>
          </a:p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745DFF"/>
                </a:solidFill>
                <a:latin typeface="Georgia" panose="02040502050405020303" pitchFamily="18" charset="0"/>
                <a:sym typeface="Arial" panose="020B0604020202020204" pitchFamily="34" charset="0"/>
              </a:rPr>
              <a:t>代表点位置调整</a:t>
            </a:r>
          </a:p>
        </p:txBody>
      </p:sp>
      <p:sp>
        <p:nvSpPr>
          <p:cNvPr id="53" name="Text Box 15">
            <a:extLst>
              <a:ext uri="{FF2B5EF4-FFF2-40B4-BE49-F238E27FC236}">
                <a16:creationId xmlns:a16="http://schemas.microsoft.com/office/drawing/2014/main" id="{2BCE8E20-3292-C9FA-5E1C-780F956179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5742" y="5603682"/>
            <a:ext cx="24114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5125" indent="-255588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745DFF"/>
                </a:solidFill>
                <a:latin typeface="Georgia" panose="02040502050405020303" pitchFamily="18" charset="0"/>
                <a:sym typeface="Arial" panose="020B0604020202020204" pitchFamily="34" charset="0"/>
              </a:rPr>
              <a:t>最终聚类结果</a:t>
            </a:r>
          </a:p>
        </p:txBody>
      </p:sp>
      <p:sp>
        <p:nvSpPr>
          <p:cNvPr id="54" name="Text Box 16">
            <a:extLst>
              <a:ext uri="{FF2B5EF4-FFF2-40B4-BE49-F238E27FC236}">
                <a16:creationId xmlns:a16="http://schemas.microsoft.com/office/drawing/2014/main" id="{57A98B38-6924-3F04-2098-6A784599AF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0194" y="1554943"/>
            <a:ext cx="352901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5125" indent="-255588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745DFF"/>
                </a:solidFill>
                <a:latin typeface="Georgia" panose="02040502050405020303" pitchFamily="18" charset="0"/>
                <a:sym typeface="Arial" panose="020B0604020202020204" pitchFamily="34" charset="0"/>
              </a:rPr>
              <a:t>步骤 </a:t>
            </a:r>
            <a:r>
              <a:rPr lang="en-US" altLang="zh-CN" b="1" dirty="0">
                <a:solidFill>
                  <a:srgbClr val="745DFF"/>
                </a:solidFill>
                <a:latin typeface="Georgia" panose="02040502050405020303" pitchFamily="18" charset="0"/>
                <a:sym typeface="Arial" panose="020B0604020202020204" pitchFamily="34" charset="0"/>
              </a:rPr>
              <a:t>3</a:t>
            </a:r>
            <a:r>
              <a:rPr lang="zh-CN" altLang="en-US" b="1" dirty="0">
                <a:solidFill>
                  <a:srgbClr val="745DFF"/>
                </a:solidFill>
                <a:latin typeface="Georgia" panose="02040502050405020303" pitchFamily="18" charset="0"/>
                <a:sym typeface="Arial" panose="020B0604020202020204" pitchFamily="34" charset="0"/>
              </a:rPr>
              <a:t>:</a:t>
            </a:r>
          </a:p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745DFF"/>
                </a:solidFill>
                <a:latin typeface="Georgia" panose="02040502050405020303" pitchFamily="18" charset="0"/>
                <a:sym typeface="Arial" panose="020B0604020202020204" pitchFamily="34" charset="0"/>
              </a:rPr>
              <a:t>凝聚聚类</a:t>
            </a:r>
          </a:p>
        </p:txBody>
      </p:sp>
    </p:spTree>
    <p:extLst>
      <p:ext uri="{BB962C8B-B14F-4D97-AF65-F5344CB8AC3E}">
        <p14:creationId xmlns:p14="http://schemas.microsoft.com/office/powerpoint/2010/main" val="2590159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B6A11-B112-438B-700F-0775FD744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CFB2CF-A155-A80C-AC33-ABC16A20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FASCA</a:t>
            </a:r>
            <a:r>
              <a:rPr lang="zh-CN" altLang="en-US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算法设计思路</a:t>
            </a:r>
          </a:p>
        </p:txBody>
      </p:sp>
      <p:sp>
        <p:nvSpPr>
          <p:cNvPr id="51" name="Text Box 13">
            <a:extLst>
              <a:ext uri="{FF2B5EF4-FFF2-40B4-BE49-F238E27FC236}">
                <a16:creationId xmlns:a16="http://schemas.microsoft.com/office/drawing/2014/main" id="{A9998D66-629E-4A32-C460-189B37DBBB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9037" y="1360433"/>
            <a:ext cx="5658329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5125" indent="-255588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marL="109537" indent="0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步骤 </a:t>
            </a:r>
            <a:r>
              <a:rPr lang="en-US" altLang="zh-CN" sz="2800" b="1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1</a:t>
            </a:r>
            <a:r>
              <a:rPr lang="zh-CN" altLang="en-US" sz="2800" b="1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: 形状保持采样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91F48063-E2D7-A259-D8C3-CBA0367158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89037" y="1936369"/>
                <a:ext cx="10102740" cy="4351338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b="1" dirty="0"/>
                  <a:t>去除离群数据：</a:t>
                </a:r>
                <a:r>
                  <a:rPr lang="zh-CN" altLang="en-US" dirty="0"/>
                  <a:t>使用快速离群点检测算法</a:t>
                </a:r>
                <a:r>
                  <a:rPr lang="en-US" altLang="zh-CN" dirty="0"/>
                  <a:t>,</a:t>
                </a:r>
                <a:r>
                  <a:rPr lang="zh-CN" altLang="en-US" dirty="0"/>
                  <a:t>时间复杂度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，可快速去除后</a:t>
                </a:r>
                <a:r>
                  <a:rPr lang="en-US" altLang="zh-CN" dirty="0"/>
                  <a:t>5%</a:t>
                </a:r>
                <a:r>
                  <a:rPr lang="zh-CN" altLang="en-US" dirty="0"/>
                  <a:t>的离群数据。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91F48063-E2D7-A259-D8C3-CBA0367158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9037" y="1936369"/>
                <a:ext cx="10102740" cy="4351338"/>
              </a:xfrm>
              <a:blipFill>
                <a:blip r:embed="rId2"/>
                <a:stretch>
                  <a:fillRect l="-1086" t="-25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>
            <a:extLst>
              <a:ext uri="{FF2B5EF4-FFF2-40B4-BE49-F238E27FC236}">
                <a16:creationId xmlns:a16="http://schemas.microsoft.com/office/drawing/2014/main" id="{19060174-A84E-8AFD-7BE4-68B0E321E2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8132" y="2889444"/>
            <a:ext cx="3874419" cy="303781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1E36920-5619-1780-A97F-AA590CAF03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037" y="2880026"/>
            <a:ext cx="3935856" cy="3056648"/>
          </a:xfrm>
          <a:prstGeom prst="rect">
            <a:avLst/>
          </a:prstGeom>
        </p:spPr>
      </p:pic>
      <p:sp>
        <p:nvSpPr>
          <p:cNvPr id="12" name="箭头: 右 11">
            <a:extLst>
              <a:ext uri="{FF2B5EF4-FFF2-40B4-BE49-F238E27FC236}">
                <a16:creationId xmlns:a16="http://schemas.microsoft.com/office/drawing/2014/main" id="{3ECDBEA9-6099-BCBE-E86B-2B6FCC4BA435}"/>
              </a:ext>
            </a:extLst>
          </p:cNvPr>
          <p:cNvSpPr/>
          <p:nvPr/>
        </p:nvSpPr>
        <p:spPr>
          <a:xfrm>
            <a:off x="5284381" y="4252059"/>
            <a:ext cx="1304263" cy="312582"/>
          </a:xfrm>
          <a:prstGeom prst="rightArrow">
            <a:avLst/>
          </a:prstGeom>
          <a:solidFill>
            <a:srgbClr val="745DFF"/>
          </a:solidFill>
          <a:ln>
            <a:solidFill>
              <a:srgbClr val="745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272EFF9-E6BD-5A75-B5C5-611C728BC40D}"/>
              </a:ext>
            </a:extLst>
          </p:cNvPr>
          <p:cNvSpPr txBox="1"/>
          <p:nvPr/>
        </p:nvSpPr>
        <p:spPr>
          <a:xfrm>
            <a:off x="5249816" y="456464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去除离群点</a:t>
            </a:r>
          </a:p>
        </p:txBody>
      </p:sp>
    </p:spTree>
    <p:extLst>
      <p:ext uri="{BB962C8B-B14F-4D97-AF65-F5344CB8AC3E}">
        <p14:creationId xmlns:p14="http://schemas.microsoft.com/office/powerpoint/2010/main" val="2128944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6D797-A7E2-8C44-ECFA-4F89B4B1B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2B6889-32DE-614E-9A92-DD1754136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FASCA</a:t>
            </a:r>
            <a:r>
              <a:rPr lang="zh-CN" altLang="en-US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算法设计思路</a:t>
            </a:r>
          </a:p>
        </p:txBody>
      </p:sp>
      <p:sp>
        <p:nvSpPr>
          <p:cNvPr id="51" name="Text Box 13">
            <a:extLst>
              <a:ext uri="{FF2B5EF4-FFF2-40B4-BE49-F238E27FC236}">
                <a16:creationId xmlns:a16="http://schemas.microsoft.com/office/drawing/2014/main" id="{9B10D32E-5BDD-CA29-3A2B-861C7682CB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9037" y="1360433"/>
            <a:ext cx="5658329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5125" indent="-255588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marL="109537" indent="0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步骤 </a:t>
            </a:r>
            <a:r>
              <a:rPr lang="en-US" altLang="zh-CN" sz="2800" b="1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1</a:t>
            </a:r>
            <a:r>
              <a:rPr lang="zh-CN" altLang="en-US" sz="2800" b="1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: 形状保持采样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5746DDF0-FBAA-2E13-53C7-C1CDBA6BE5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89037" y="1936369"/>
                <a:ext cx="8805568" cy="4351338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b="1" dirty="0"/>
                  <a:t>远端采样策略：</a:t>
                </a:r>
                <a:endParaRPr lang="en-US" altLang="zh-CN" b="1" dirty="0"/>
              </a:p>
              <a:p>
                <a:pPr lvl="1"/>
                <a:r>
                  <a:rPr lang="zh-CN" altLang="en-US" b="1" dirty="0"/>
                  <a:t>解决痛点：</a:t>
                </a:r>
                <a:r>
                  <a:rPr lang="zh-CN" altLang="en-US" dirty="0"/>
                  <a:t>随机采样容易破坏数据的拓扑结构。</a:t>
                </a:r>
                <a:endParaRPr lang="en-US" altLang="zh-CN" dirty="0"/>
              </a:p>
              <a:p>
                <a:pPr lvl="1"/>
                <a:r>
                  <a:rPr lang="zh-CN" altLang="en-US" b="1" dirty="0"/>
                  <a:t>远端采样逻辑：</a:t>
                </a:r>
                <a:endParaRPr lang="en-US" altLang="zh-CN" b="1" dirty="0"/>
              </a:p>
              <a:p>
                <a:pPr lvl="2"/>
                <a:r>
                  <a:rPr lang="zh-CN" altLang="en-US" dirty="0"/>
                  <a:t>选取距离中心最近的点作为第一个采样点。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每次从剩余点中，选择距离已选点集合最远的那个点。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当新选点的距离变化率低于阈值 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zh-CN" altLang="en-US" dirty="0"/>
                  <a:t> 时停止。</a:t>
                </a:r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5746DDF0-FBAA-2E13-53C7-C1CDBA6BE5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9037" y="1936369"/>
                <a:ext cx="8805568" cy="4351338"/>
              </a:xfrm>
              <a:blipFill>
                <a:blip r:embed="rId2"/>
                <a:stretch>
                  <a:fillRect l="-1246" t="-26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图片 14">
            <a:extLst>
              <a:ext uri="{FF2B5EF4-FFF2-40B4-BE49-F238E27FC236}">
                <a16:creationId xmlns:a16="http://schemas.microsoft.com/office/drawing/2014/main" id="{2486569E-A4E8-866B-903B-F658266C2E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7397" y="4168745"/>
            <a:ext cx="2400804" cy="1882396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10C36C70-8E6C-8ECD-FD3B-A805B7C9E2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5598" y="4153795"/>
            <a:ext cx="2400804" cy="1882396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0E52ADA6-21A1-3079-7AC8-C83610938A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3799" y="4112038"/>
            <a:ext cx="2413573" cy="1892408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A4259BC1-2CC5-BEEE-8263-B2D5F23A538F}"/>
              </a:ext>
            </a:extLst>
          </p:cNvPr>
          <p:cNvSpPr txBox="1"/>
          <p:nvPr/>
        </p:nvSpPr>
        <p:spPr>
          <a:xfrm>
            <a:off x="2303721" y="6051141"/>
            <a:ext cx="1820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原始数据集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B0C9E94-C3C9-DE92-068E-494C0F79518A}"/>
              </a:ext>
            </a:extLst>
          </p:cNvPr>
          <p:cNvSpPr txBox="1"/>
          <p:nvPr/>
        </p:nvSpPr>
        <p:spPr>
          <a:xfrm>
            <a:off x="5652977" y="6044133"/>
            <a:ext cx="1820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随机采样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565A5EE-0E1A-7716-2576-8A0D324D92A8}"/>
              </a:ext>
            </a:extLst>
          </p:cNvPr>
          <p:cNvSpPr txBox="1"/>
          <p:nvPr/>
        </p:nvSpPr>
        <p:spPr>
          <a:xfrm>
            <a:off x="8977876" y="6036191"/>
            <a:ext cx="1820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远端采样</a:t>
            </a:r>
          </a:p>
        </p:txBody>
      </p:sp>
    </p:spTree>
    <p:extLst>
      <p:ext uri="{BB962C8B-B14F-4D97-AF65-F5344CB8AC3E}">
        <p14:creationId xmlns:p14="http://schemas.microsoft.com/office/powerpoint/2010/main" val="1676930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66B5F-E116-740A-5AF9-4AC617A20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595C87-2D06-BD83-2404-B507D4CFB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FASCA</a:t>
            </a:r>
            <a:r>
              <a:rPr lang="zh-CN" altLang="en-US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算法设计思路</a:t>
            </a:r>
          </a:p>
        </p:txBody>
      </p:sp>
      <p:sp>
        <p:nvSpPr>
          <p:cNvPr id="51" name="Text Box 13">
            <a:extLst>
              <a:ext uri="{FF2B5EF4-FFF2-40B4-BE49-F238E27FC236}">
                <a16:creationId xmlns:a16="http://schemas.microsoft.com/office/drawing/2014/main" id="{CFDBD3EC-A9F9-AA47-62E6-613710458B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9037" y="1360433"/>
            <a:ext cx="5658329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5125" indent="-255588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marL="109537" indent="0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步骤 </a:t>
            </a:r>
            <a:r>
              <a:rPr lang="en-US" altLang="zh-CN" sz="2800" b="1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2</a:t>
            </a:r>
            <a:r>
              <a:rPr lang="zh-CN" altLang="en-US" sz="2800" b="1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: 代表点位置调整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78049BB-5D1F-FCE0-D20F-A0BDCCD6C4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89037" y="1936369"/>
                <a:ext cx="8805568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zh-CN" altLang="en-US" b="1" dirty="0"/>
                  <a:t>启发：</a:t>
                </a:r>
                <a:r>
                  <a:rPr lang="zh-CN" altLang="en-US" dirty="0"/>
                  <a:t>力导向模型中，样本点间互相产生作用力。</a:t>
                </a:r>
                <a:endParaRPr lang="en-US" altLang="zh-CN" dirty="0"/>
              </a:p>
              <a:p>
                <a:r>
                  <a:rPr lang="zh-CN" altLang="en-US" b="1" dirty="0"/>
                  <a:t>算法步骤：</a:t>
                </a:r>
                <a:endParaRPr lang="en-US" altLang="zh-CN" b="1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zh-CN" altLang="en-US" dirty="0"/>
                  <a:t>初步聚类，为每个代表点分配一个簇标签。</a:t>
                </a:r>
                <a:endParaRPr lang="en-US" altLang="zh-CN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zh-CN" altLang="en-US" dirty="0"/>
                  <a:t>为每个代表点计算</a:t>
                </a:r>
                <a:r>
                  <a:rPr lang="en-US" altLang="zh-CN" dirty="0"/>
                  <a:t>k</a:t>
                </a:r>
                <a:r>
                  <a:rPr lang="zh-CN" altLang="en-US" dirty="0"/>
                  <a:t>近邻集合。</a:t>
                </a:r>
                <a:endParaRPr lang="en-US" altLang="zh-CN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zh-CN" altLang="en-US" dirty="0"/>
                  <a:t>在</a:t>
                </a:r>
                <a:r>
                  <a:rPr lang="en-US" altLang="zh-CN" dirty="0"/>
                  <a:t>k</a:t>
                </a:r>
                <a:r>
                  <a:rPr lang="zh-CN" altLang="en-US" dirty="0"/>
                  <a:t>近邻集合中借助拉普拉斯平滑思想进行混合位移计算：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簇内平滑矢量：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𝑠𝑚𝑜𝑜𝑡h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∣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supHide m:val="on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b>
                      <m:sup/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lvl="2"/>
                <a:r>
                  <a:rPr lang="zh-CN" altLang="en-US" dirty="0"/>
                  <a:t>簇间排斥矢量：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𝑟𝑒𝑝</m:t>
                        </m:r>
                      </m:sub>
                    </m:sSub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grow m:val="on"/>
                        <m:supHide m:val="on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b>
                      <m:sup/>
                      <m:e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𝑚𝑖𝑛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den>
                            </m:f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d>
                              <m:d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zh-CN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nary>
                  </m:oMath>
                </a14:m>
                <a:endParaRPr lang="en-US" altLang="zh-CN" dirty="0"/>
              </a:p>
              <a:p>
                <a:pPr lvl="2"/>
                <a:r>
                  <a:rPr lang="zh-CN" altLang="en-US" dirty="0"/>
                  <a:t>位置锚定矢量：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𝑎𝑛𝑐h𝑜𝑟</m:t>
                        </m:r>
                      </m:sub>
                    </m:sSub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𝑖𝑛𝑖𝑡</m:t>
                        </m:r>
                      </m:sup>
                    </m:sSubSup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r>
                  <a:rPr lang="zh-CN" altLang="en-US" b="1" dirty="0"/>
                  <a:t>多轮迭代：</a:t>
                </a:r>
                <a:r>
                  <a:rPr lang="zh-CN" altLang="en-US" dirty="0"/>
                  <a:t>根据效率需求重复算法步骤。</a:t>
                </a:r>
                <a:endParaRPr lang="en-US" altLang="zh-CN" dirty="0"/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78049BB-5D1F-FCE0-D20F-A0BDCCD6C4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89037" y="1936369"/>
                <a:ext cx="8805568" cy="4351338"/>
              </a:xfrm>
              <a:blipFill>
                <a:blip r:embed="rId2"/>
                <a:stretch>
                  <a:fillRect l="-1246" t="-3366" r="-16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1769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5F0F6-4F03-1F9B-6D61-9B5488DEF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8246FB-C1CF-2E83-152B-7B335EF20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FASCA</a:t>
            </a:r>
            <a:r>
              <a:rPr lang="zh-CN" altLang="en-US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算法设计思路</a:t>
            </a:r>
          </a:p>
        </p:txBody>
      </p:sp>
      <p:sp>
        <p:nvSpPr>
          <p:cNvPr id="51" name="Text Box 13">
            <a:extLst>
              <a:ext uri="{FF2B5EF4-FFF2-40B4-BE49-F238E27FC236}">
                <a16:creationId xmlns:a16="http://schemas.microsoft.com/office/drawing/2014/main" id="{33630C23-BFA2-DC8F-C2C2-B1D2ABF8A8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9037" y="1360433"/>
            <a:ext cx="5658329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5125" indent="-255588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marL="109537" indent="0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步骤 </a:t>
            </a:r>
            <a:r>
              <a:rPr lang="en-US" altLang="zh-CN" sz="2800" b="1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2</a:t>
            </a:r>
            <a:r>
              <a:rPr lang="zh-CN" altLang="en-US" sz="2800" b="1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: 代表点位置调整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10630BA-E044-B397-171A-2F00874FC9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9037" y="1840563"/>
            <a:ext cx="4334430" cy="41632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29828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89A8C-C680-C232-001E-6E885AA78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126C4B-C3C4-5DA1-B3B0-D80D900CC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FASCA</a:t>
            </a:r>
            <a:r>
              <a:rPr lang="zh-CN" altLang="en-US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算法设计思路</a:t>
            </a:r>
          </a:p>
        </p:txBody>
      </p:sp>
      <p:sp>
        <p:nvSpPr>
          <p:cNvPr id="51" name="Text Box 13">
            <a:extLst>
              <a:ext uri="{FF2B5EF4-FFF2-40B4-BE49-F238E27FC236}">
                <a16:creationId xmlns:a16="http://schemas.microsoft.com/office/drawing/2014/main" id="{F22733FD-DF61-A4A9-C252-422C51B353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9037" y="1360433"/>
            <a:ext cx="5658329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5125" indent="-255588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marL="109537" indent="0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步骤 </a:t>
            </a:r>
            <a:r>
              <a:rPr lang="en-US" altLang="zh-CN" sz="2800" b="1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3</a:t>
            </a:r>
            <a:r>
              <a:rPr lang="zh-CN" altLang="en-US" sz="2800" b="1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: 凝聚聚类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835E43-C90A-77A0-E59A-790032783D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9037" y="1936369"/>
            <a:ext cx="10102740" cy="4351338"/>
          </a:xfrm>
        </p:spPr>
        <p:txBody>
          <a:bodyPr>
            <a:normAutofit/>
          </a:bodyPr>
          <a:lstStyle/>
          <a:p>
            <a:r>
              <a:rPr lang="zh-CN" altLang="en-US" b="1" dirty="0"/>
              <a:t>聚类策略：自底向上凝聚层次聚类</a:t>
            </a:r>
            <a:endParaRPr lang="en-US" altLang="zh-CN" b="1" dirty="0"/>
          </a:p>
          <a:p>
            <a:pPr marL="914400" lvl="1" indent="-457200">
              <a:buFont typeface="+mj-lt"/>
              <a:buAutoNum type="arabicPeriod"/>
            </a:pPr>
            <a:r>
              <a:rPr lang="zh-CN" altLang="zh-CN" dirty="0"/>
              <a:t>遍历当前所有簇对，计算其类间最小距离</a:t>
            </a:r>
            <a:r>
              <a:rPr lang="zh-CN" altLang="en-US" dirty="0"/>
              <a:t>。</a:t>
            </a:r>
            <a:endParaRPr lang="en-US" altLang="zh-CN" dirty="0"/>
          </a:p>
          <a:p>
            <a:pPr marL="914400" lvl="1" indent="-457200">
              <a:buFont typeface="+mj-lt"/>
              <a:buAutoNum type="arabicPeriod"/>
            </a:pPr>
            <a:r>
              <a:rPr lang="zh-CN" altLang="zh-CN" dirty="0"/>
              <a:t>找到距离最小的一对簇</a:t>
            </a:r>
            <a:r>
              <a:rPr lang="zh-CN" altLang="en-US" dirty="0"/>
              <a:t>，并将其合并为同一个簇。</a:t>
            </a:r>
            <a:endParaRPr lang="en-US" altLang="zh-CN" dirty="0"/>
          </a:p>
          <a:p>
            <a:pPr marL="914400" lvl="1" indent="-457200">
              <a:buFont typeface="+mj-lt"/>
              <a:buAutoNum type="arabicPeriod"/>
            </a:pPr>
            <a:r>
              <a:rPr lang="zh-CN" altLang="zh-CN" dirty="0"/>
              <a:t>重复步骤</a:t>
            </a:r>
            <a:r>
              <a:rPr lang="en-US" altLang="zh-CN" dirty="0"/>
              <a:t> 2</a:t>
            </a:r>
            <a:r>
              <a:rPr lang="zh-CN" altLang="zh-CN" dirty="0"/>
              <a:t>，</a:t>
            </a:r>
            <a:r>
              <a:rPr lang="zh-CN" altLang="en-US" dirty="0"/>
              <a:t>直到簇的数量为预设</a:t>
            </a:r>
            <a:r>
              <a:rPr lang="en-US" altLang="zh-CN" dirty="0"/>
              <a:t>K</a:t>
            </a:r>
            <a:r>
              <a:rPr lang="zh-CN" altLang="en-US" dirty="0"/>
              <a:t>值。</a:t>
            </a:r>
            <a:endParaRPr lang="en-US" altLang="zh-CN" dirty="0">
              <a:effectLst/>
            </a:endParaRPr>
          </a:p>
          <a:p>
            <a:r>
              <a:rPr lang="zh-CN" altLang="en-US" b="1" dirty="0"/>
              <a:t>标签映射：</a:t>
            </a:r>
            <a:r>
              <a:rPr lang="zh-CN" altLang="en-US" dirty="0">
                <a:effectLst/>
              </a:rPr>
              <a:t>聚类完成后，对于原始数据集中的每一个样本点，寻找调整后代表点集中距离它最近的代表点，并将该代表点所属的簇标签分配给它。</a:t>
            </a:r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2014263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2AB22-87DD-BED0-673E-774BF4412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829691-BE4A-4642-C3CE-B10BB729C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E27CC1-AC6A-CC71-2F0D-809C37F32A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CN" altLang="en-US" b="1" dirty="0">
                <a:solidFill>
                  <a:schemeClr val="bg2">
                    <a:lumMod val="75000"/>
                  </a:schemeClr>
                </a:solidFill>
              </a:rPr>
              <a:t>研究背景与意义</a:t>
            </a:r>
            <a:endParaRPr lang="en-US" altLang="zh-CN" b="1" dirty="0">
              <a:solidFill>
                <a:schemeClr val="bg2">
                  <a:lumMod val="7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CN" b="1" dirty="0">
                <a:solidFill>
                  <a:schemeClr val="bg2">
                    <a:lumMod val="75000"/>
                  </a:schemeClr>
                </a:solidFill>
              </a:rPr>
              <a:t>FASCA</a:t>
            </a:r>
            <a:r>
              <a:rPr lang="zh-CN" altLang="en-US" b="1" dirty="0">
                <a:solidFill>
                  <a:schemeClr val="bg2">
                    <a:lumMod val="75000"/>
                  </a:schemeClr>
                </a:solidFill>
              </a:rPr>
              <a:t>算法设计思路</a:t>
            </a:r>
            <a:endParaRPr lang="en-US" altLang="zh-CN" b="1" dirty="0">
              <a:solidFill>
                <a:schemeClr val="bg2">
                  <a:lumMod val="7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b="1" dirty="0"/>
              <a:t>算法总结与分析</a:t>
            </a:r>
            <a:endParaRPr lang="en-US" altLang="zh-CN" b="1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b="1" dirty="0"/>
              <a:t>实验环境与设置</a:t>
            </a:r>
            <a:endParaRPr lang="en-US" altLang="zh-CN" b="1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b="1" dirty="0"/>
              <a:t>实验结果分析</a:t>
            </a:r>
            <a:endParaRPr lang="en-US" altLang="zh-CN" b="1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b="1" dirty="0"/>
              <a:t>总结与展望</a:t>
            </a:r>
          </a:p>
        </p:txBody>
      </p:sp>
    </p:spTree>
    <p:extLst>
      <p:ext uri="{BB962C8B-B14F-4D97-AF65-F5344CB8AC3E}">
        <p14:creationId xmlns:p14="http://schemas.microsoft.com/office/powerpoint/2010/main" val="42549258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992B1-2EAB-2878-BA97-EF835B1CC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5EDA01-BCC2-D033-8F2C-485C6B310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算法总结与分析</a:t>
            </a:r>
          </a:p>
        </p:txBody>
      </p:sp>
      <p:pic>
        <p:nvPicPr>
          <p:cNvPr id="6" name="Picture 3" descr="1">
            <a:extLst>
              <a:ext uri="{FF2B5EF4-FFF2-40B4-BE49-F238E27FC236}">
                <a16:creationId xmlns:a16="http://schemas.microsoft.com/office/drawing/2014/main" id="{FEF93180-CE55-8909-15EC-94AACDF22F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9145" y="3957016"/>
            <a:ext cx="2232096" cy="1743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4" descr="2">
            <a:extLst>
              <a:ext uri="{FF2B5EF4-FFF2-40B4-BE49-F238E27FC236}">
                <a16:creationId xmlns:a16="http://schemas.microsoft.com/office/drawing/2014/main" id="{629B6976-802F-0749-7480-5D3557DAA1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8473" y="2098738"/>
            <a:ext cx="2180476" cy="1655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 descr="3 - Copy">
            <a:extLst>
              <a:ext uri="{FF2B5EF4-FFF2-40B4-BE49-F238E27FC236}">
                <a16:creationId xmlns:a16="http://schemas.microsoft.com/office/drawing/2014/main" id="{5009E587-FA26-3B45-67F2-5E497BE46A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1932" y="3957016"/>
            <a:ext cx="2153334" cy="1646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6" descr="4">
            <a:extLst>
              <a:ext uri="{FF2B5EF4-FFF2-40B4-BE49-F238E27FC236}">
                <a16:creationId xmlns:a16="http://schemas.microsoft.com/office/drawing/2014/main" id="{719E9523-E7FD-B7A1-DF60-A1F557E2C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701" y="2077801"/>
            <a:ext cx="2153334" cy="16919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7" descr="6 - Copy">
            <a:extLst>
              <a:ext uri="{FF2B5EF4-FFF2-40B4-BE49-F238E27FC236}">
                <a16:creationId xmlns:a16="http://schemas.microsoft.com/office/drawing/2014/main" id="{2BF60C86-B725-28DC-8BFF-E9D3ED519E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5957" y="3901827"/>
            <a:ext cx="2090000" cy="1646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AutoShape 8">
            <a:extLst>
              <a:ext uri="{FF2B5EF4-FFF2-40B4-BE49-F238E27FC236}">
                <a16:creationId xmlns:a16="http://schemas.microsoft.com/office/drawing/2014/main" id="{CA08DC1F-A6FE-CB03-3400-E2BC5E567F2C}"/>
              </a:ext>
            </a:extLst>
          </p:cNvPr>
          <p:cNvSpPr>
            <a:spLocks noChangeArrowheads="1"/>
          </p:cNvSpPr>
          <p:nvPr/>
        </p:nvSpPr>
        <p:spPr bwMode="auto">
          <a:xfrm rot="7860000" flipH="1">
            <a:off x="3415756" y="3787052"/>
            <a:ext cx="352425" cy="147638"/>
          </a:xfrm>
          <a:prstGeom prst="rightArrow">
            <a:avLst>
              <a:gd name="adj1" fmla="val 50000"/>
              <a:gd name="adj2" fmla="val 59677"/>
            </a:avLst>
          </a:prstGeom>
          <a:solidFill>
            <a:srgbClr val="8975FF"/>
          </a:solidFill>
          <a:ln w="9525">
            <a:noFill/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rgbClr val="745DFF"/>
              </a:solidFill>
            </a:endParaRPr>
          </a:p>
        </p:txBody>
      </p:sp>
      <p:sp>
        <p:nvSpPr>
          <p:cNvPr id="12" name="AutoShape 9">
            <a:extLst>
              <a:ext uri="{FF2B5EF4-FFF2-40B4-BE49-F238E27FC236}">
                <a16:creationId xmlns:a16="http://schemas.microsoft.com/office/drawing/2014/main" id="{BF1FCDC4-1F09-C8C7-17D1-52C09D9AB517}"/>
              </a:ext>
            </a:extLst>
          </p:cNvPr>
          <p:cNvSpPr>
            <a:spLocks noChangeArrowheads="1"/>
          </p:cNvSpPr>
          <p:nvPr/>
        </p:nvSpPr>
        <p:spPr bwMode="auto">
          <a:xfrm rot="13740000" flipH="1" flipV="1">
            <a:off x="5175207" y="3800372"/>
            <a:ext cx="352425" cy="147637"/>
          </a:xfrm>
          <a:prstGeom prst="rightArrow">
            <a:avLst>
              <a:gd name="adj1" fmla="val 50000"/>
              <a:gd name="adj2" fmla="val 59678"/>
            </a:avLst>
          </a:prstGeom>
          <a:solidFill>
            <a:srgbClr val="8975FF"/>
          </a:solidFill>
          <a:ln w="9525">
            <a:noFill/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13" name="AutoShape 10">
            <a:extLst>
              <a:ext uri="{FF2B5EF4-FFF2-40B4-BE49-F238E27FC236}">
                <a16:creationId xmlns:a16="http://schemas.microsoft.com/office/drawing/2014/main" id="{A53E8684-763F-2265-6C76-899DA9E7F308}"/>
              </a:ext>
            </a:extLst>
          </p:cNvPr>
          <p:cNvSpPr>
            <a:spLocks noChangeArrowheads="1"/>
          </p:cNvSpPr>
          <p:nvPr/>
        </p:nvSpPr>
        <p:spPr bwMode="auto">
          <a:xfrm rot="7860000" flipH="1">
            <a:off x="7200151" y="3750735"/>
            <a:ext cx="352425" cy="147638"/>
          </a:xfrm>
          <a:prstGeom prst="rightArrow">
            <a:avLst>
              <a:gd name="adj1" fmla="val 50000"/>
              <a:gd name="adj2" fmla="val 59677"/>
            </a:avLst>
          </a:prstGeom>
          <a:solidFill>
            <a:srgbClr val="8975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14" name="AutoShape 11">
            <a:extLst>
              <a:ext uri="{FF2B5EF4-FFF2-40B4-BE49-F238E27FC236}">
                <a16:creationId xmlns:a16="http://schemas.microsoft.com/office/drawing/2014/main" id="{AE74ABCB-2353-001D-F5EB-1F0031827E18}"/>
              </a:ext>
            </a:extLst>
          </p:cNvPr>
          <p:cNvSpPr>
            <a:spLocks noChangeArrowheads="1"/>
          </p:cNvSpPr>
          <p:nvPr/>
        </p:nvSpPr>
        <p:spPr bwMode="auto">
          <a:xfrm rot="13740000" flipH="1" flipV="1">
            <a:off x="8798104" y="3725052"/>
            <a:ext cx="352425" cy="146050"/>
          </a:xfrm>
          <a:prstGeom prst="rightArrow">
            <a:avLst>
              <a:gd name="adj1" fmla="val 50000"/>
              <a:gd name="adj2" fmla="val 60326"/>
            </a:avLst>
          </a:prstGeom>
          <a:solidFill>
            <a:srgbClr val="8975FF"/>
          </a:solidFill>
          <a:ln w="9525">
            <a:noFill/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15" name="Text Box 12">
            <a:extLst>
              <a:ext uri="{FF2B5EF4-FFF2-40B4-BE49-F238E27FC236}">
                <a16:creationId xmlns:a16="http://schemas.microsoft.com/office/drawing/2014/main" id="{DBC27B9B-CB98-6DC1-CBB6-379333C2FA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6277" y="5661469"/>
            <a:ext cx="21955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5125" indent="-255588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745DFF"/>
                </a:solidFill>
                <a:latin typeface="Georgia" panose="02040502050405020303" pitchFamily="18" charset="0"/>
                <a:sym typeface="Arial" panose="020B0604020202020204" pitchFamily="34" charset="0"/>
              </a:rPr>
              <a:t>原始数据集</a:t>
            </a:r>
          </a:p>
        </p:txBody>
      </p:sp>
      <p:sp>
        <p:nvSpPr>
          <p:cNvPr id="16" name="Text Box 13">
            <a:extLst>
              <a:ext uri="{FF2B5EF4-FFF2-40B4-BE49-F238E27FC236}">
                <a16:creationId xmlns:a16="http://schemas.microsoft.com/office/drawing/2014/main" id="{3A32B9A5-ACBC-166B-62B5-83CBB39453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1894" y="1567306"/>
            <a:ext cx="30956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5125" indent="-255588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745DFF"/>
                </a:solidFill>
                <a:latin typeface="Georgia" panose="02040502050405020303" pitchFamily="18" charset="0"/>
                <a:sym typeface="Arial" panose="020B0604020202020204" pitchFamily="34" charset="0"/>
              </a:rPr>
              <a:t>步骤 </a:t>
            </a:r>
            <a:r>
              <a:rPr lang="en-US" altLang="zh-CN" b="1" dirty="0">
                <a:solidFill>
                  <a:srgbClr val="745DFF"/>
                </a:solidFill>
                <a:latin typeface="Georgia" panose="02040502050405020303" pitchFamily="18" charset="0"/>
                <a:sym typeface="Arial" panose="020B0604020202020204" pitchFamily="34" charset="0"/>
              </a:rPr>
              <a:t>1</a:t>
            </a:r>
            <a:r>
              <a:rPr lang="zh-CN" altLang="en-US" b="1" dirty="0">
                <a:solidFill>
                  <a:srgbClr val="745DFF"/>
                </a:solidFill>
                <a:latin typeface="Georgia" panose="02040502050405020303" pitchFamily="18" charset="0"/>
                <a:sym typeface="Arial" panose="020B0604020202020204" pitchFamily="34" charset="0"/>
              </a:rPr>
              <a:t>:</a:t>
            </a:r>
          </a:p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745DFF"/>
                </a:solidFill>
                <a:latin typeface="Georgia" panose="02040502050405020303" pitchFamily="18" charset="0"/>
                <a:sym typeface="Arial" panose="020B0604020202020204" pitchFamily="34" charset="0"/>
              </a:rPr>
              <a:t>形状保持采样 </a:t>
            </a:r>
          </a:p>
        </p:txBody>
      </p:sp>
      <p:sp>
        <p:nvSpPr>
          <p:cNvPr id="17" name="Text Box 14">
            <a:extLst>
              <a:ext uri="{FF2B5EF4-FFF2-40B4-BE49-F238E27FC236}">
                <a16:creationId xmlns:a16="http://schemas.microsoft.com/office/drawing/2014/main" id="{9F7BC167-9460-657D-7F76-BD234B8257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5978" y="5603682"/>
            <a:ext cx="504031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5125" indent="-255588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745DFF"/>
                </a:solidFill>
                <a:latin typeface="Georgia" panose="02040502050405020303" pitchFamily="18" charset="0"/>
                <a:sym typeface="Arial" panose="020B0604020202020204" pitchFamily="34" charset="0"/>
              </a:rPr>
              <a:t>步骤 </a:t>
            </a:r>
            <a:r>
              <a:rPr lang="en-US" altLang="zh-CN" b="1" dirty="0">
                <a:solidFill>
                  <a:srgbClr val="745DFF"/>
                </a:solidFill>
                <a:latin typeface="Georgia" panose="02040502050405020303" pitchFamily="18" charset="0"/>
                <a:sym typeface="Arial" panose="020B0604020202020204" pitchFamily="34" charset="0"/>
              </a:rPr>
              <a:t>2</a:t>
            </a:r>
            <a:r>
              <a:rPr lang="zh-CN" altLang="en-US" b="1" dirty="0">
                <a:solidFill>
                  <a:srgbClr val="745DFF"/>
                </a:solidFill>
                <a:latin typeface="Georgia" panose="02040502050405020303" pitchFamily="18" charset="0"/>
                <a:sym typeface="Arial" panose="020B0604020202020204" pitchFamily="34" charset="0"/>
              </a:rPr>
              <a:t>:</a:t>
            </a:r>
          </a:p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745DFF"/>
                </a:solidFill>
                <a:latin typeface="Georgia" panose="02040502050405020303" pitchFamily="18" charset="0"/>
                <a:sym typeface="Arial" panose="020B0604020202020204" pitchFamily="34" charset="0"/>
              </a:rPr>
              <a:t>代表点位置调整</a:t>
            </a:r>
          </a:p>
        </p:txBody>
      </p:sp>
      <p:sp>
        <p:nvSpPr>
          <p:cNvPr id="18" name="Text Box 16">
            <a:extLst>
              <a:ext uri="{FF2B5EF4-FFF2-40B4-BE49-F238E27FC236}">
                <a16:creationId xmlns:a16="http://schemas.microsoft.com/office/drawing/2014/main" id="{4E9966E6-95ED-E6BB-BFBA-73A8A93F7F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0194" y="1554943"/>
            <a:ext cx="352901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5125" indent="-255588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745DFF"/>
                </a:solidFill>
                <a:latin typeface="Georgia" panose="02040502050405020303" pitchFamily="18" charset="0"/>
                <a:sym typeface="Arial" panose="020B0604020202020204" pitchFamily="34" charset="0"/>
              </a:rPr>
              <a:t>步骤 </a:t>
            </a:r>
            <a:r>
              <a:rPr lang="en-US" altLang="zh-CN" b="1" dirty="0">
                <a:solidFill>
                  <a:srgbClr val="745DFF"/>
                </a:solidFill>
                <a:latin typeface="Georgia" panose="02040502050405020303" pitchFamily="18" charset="0"/>
                <a:sym typeface="Arial" panose="020B0604020202020204" pitchFamily="34" charset="0"/>
              </a:rPr>
              <a:t>3</a:t>
            </a:r>
            <a:r>
              <a:rPr lang="zh-CN" altLang="en-US" b="1" dirty="0">
                <a:solidFill>
                  <a:srgbClr val="745DFF"/>
                </a:solidFill>
                <a:latin typeface="Georgia" panose="02040502050405020303" pitchFamily="18" charset="0"/>
                <a:sym typeface="Arial" panose="020B0604020202020204" pitchFamily="34" charset="0"/>
              </a:rPr>
              <a:t>:</a:t>
            </a:r>
          </a:p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745DFF"/>
                </a:solidFill>
                <a:latin typeface="Georgia" panose="02040502050405020303" pitchFamily="18" charset="0"/>
                <a:sym typeface="Arial" panose="020B0604020202020204" pitchFamily="34" charset="0"/>
              </a:rPr>
              <a:t>凝聚聚类</a:t>
            </a:r>
          </a:p>
        </p:txBody>
      </p:sp>
    </p:spTree>
    <p:extLst>
      <p:ext uri="{BB962C8B-B14F-4D97-AF65-F5344CB8AC3E}">
        <p14:creationId xmlns:p14="http://schemas.microsoft.com/office/powerpoint/2010/main" val="1926317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BFE5A-DD32-1A64-C32D-651B67853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8467CC-966F-840D-E9FF-104355638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算法总结与分析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CC8A5D71-BCF6-D793-1B9E-14C4C003CF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49178"/>
                <a:ext cx="10515600" cy="4351338"/>
              </a:xfrm>
            </p:spPr>
            <p:txBody>
              <a:bodyPr/>
              <a:lstStyle/>
              <a:p>
                <a:r>
                  <a:rPr lang="zh-CN" altLang="en-US" b="1" dirty="0"/>
                  <a:t>算法时间复杂度分析：</a:t>
                </a:r>
                <a:endParaRPr lang="en-US" altLang="zh-CN" b="1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zh-CN" altLang="en-US" b="1" dirty="0"/>
                  <a:t>形状保持采样阶段：</a:t>
                </a:r>
                <a:endParaRPr lang="en-US" altLang="zh-CN" b="1" dirty="0"/>
              </a:p>
              <a:p>
                <a:pPr lvl="2"/>
                <a:r>
                  <a:rPr lang="zh-CN" altLang="en-US" dirty="0"/>
                  <a:t>快速离群点检测算法：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endParaRPr lang="en-US" altLang="zh-CN" b="1" dirty="0"/>
              </a:p>
              <a:p>
                <a:pPr lvl="2"/>
                <a:r>
                  <a:rPr lang="zh-CN" altLang="zh-CN" dirty="0"/>
                  <a:t>远端采样</a:t>
                </a:r>
                <a:r>
                  <a:rPr lang="en-US" altLang="zh-CN" dirty="0"/>
                  <a:t>M</a:t>
                </a:r>
                <a:r>
                  <a:rPr lang="zh-CN" altLang="en-US" dirty="0"/>
                  <a:t>个代表点：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且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≪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altLang="zh-CN" b="1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zh-CN" altLang="en-US" b="1" dirty="0"/>
                  <a:t>代表点位置调整阶段：</a:t>
                </a:r>
                <a:endParaRPr lang="en-US" altLang="zh-CN" b="1" dirty="0"/>
              </a:p>
              <a:p>
                <a:pPr lvl="2"/>
                <a:r>
                  <a:rPr lang="zh-CN" altLang="en-US" dirty="0"/>
                  <a:t>构建</a:t>
                </a:r>
                <a:r>
                  <a:rPr lang="en-US" altLang="zh-CN" dirty="0"/>
                  <a:t>k-NN</a:t>
                </a:r>
                <a:r>
                  <a:rPr lang="zh-CN" altLang="en-US" dirty="0"/>
                  <a:t>图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𝑀</m:t>
                        </m:r>
                        <m:func>
                          <m:func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</m:func>
                      </m:e>
                    </m:d>
                  </m:oMath>
                </a14:m>
                <a:endParaRPr lang="en-US" altLang="zh-CN" dirty="0"/>
              </a:p>
              <a:p>
                <a:pPr lvl="2"/>
                <a:r>
                  <a:rPr lang="zh-CN" altLang="zh-CN" dirty="0"/>
                  <a:t>计算其</a:t>
                </a:r>
                <a:r>
                  <a:rPr lang="en-US" altLang="zh-CN" dirty="0"/>
                  <a:t>k</a:t>
                </a:r>
                <a:r>
                  <a:rPr lang="zh-CN" altLang="en-US" dirty="0"/>
                  <a:t>个邻居的受力情况：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</m:oMath>
                </a14:m>
                <a:endParaRPr lang="en-US" altLang="zh-CN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zh-CN" altLang="en-US" b="1" dirty="0"/>
                  <a:t>凝聚聚类：</a:t>
                </a:r>
                <a:endParaRPr lang="en-US" altLang="zh-CN" b="1" dirty="0"/>
              </a:p>
              <a:p>
                <a:pPr lvl="2"/>
                <a:r>
                  <a:rPr lang="zh-CN" altLang="en-US" dirty="0"/>
                  <a:t>距离矩阵优化凝聚聚类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 pitchFamily="18" charset="0"/>
                      </a:rPr>
                      <m:t>：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altLang="zh-CN" dirty="0"/>
              </a:p>
              <a:p>
                <a:pPr lvl="2"/>
                <a:r>
                  <a:rPr lang="zh-CN" altLang="en-US" dirty="0"/>
                  <a:t>将簇标签借助</a:t>
                </a:r>
                <a:r>
                  <a:rPr lang="en-US" altLang="zh-CN" dirty="0"/>
                  <a:t>KD-tree</a:t>
                </a:r>
                <a:r>
                  <a:rPr lang="zh-CN" altLang="en-US" dirty="0"/>
                  <a:t>映射到原始的</a:t>
                </a:r>
                <a:r>
                  <a:rPr lang="en-US" altLang="zh-CN" dirty="0"/>
                  <a:t>N</a:t>
                </a:r>
                <a:r>
                  <a:rPr lang="zh-CN" altLang="en-US" dirty="0"/>
                  <a:t>个点：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𝑁</m:t>
                        </m:r>
                        <m:func>
                          <m:func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</m:func>
                      </m:e>
                    </m:d>
                  </m:oMath>
                </a14:m>
                <a:endParaRPr lang="en-US" altLang="zh-CN" dirty="0"/>
              </a:p>
              <a:p>
                <a:pPr lvl="1"/>
                <a:r>
                  <a:rPr lang="zh-CN" altLang="en-US" b="1" dirty="0"/>
                  <a:t>算法整体时间复杂度：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zh-CN" altLang="zh-C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𝑵</m:t>
                        </m:r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𝑴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zh-CN" altLang="zh-CN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𝑴</m:t>
                            </m:r>
                          </m:e>
                          <m:sup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CC8A5D71-BCF6-D793-1B9E-14C4C003CF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49178"/>
                <a:ext cx="10515600" cy="4351338"/>
              </a:xfrm>
              <a:blipFill>
                <a:blip r:embed="rId3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09254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80735-BD05-182A-0893-D9F5C55A6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D71873-027F-389F-6058-310EDC657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10BBD3-7E28-8C61-61BE-3254183A4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CN" altLang="en-US" b="1" dirty="0">
                <a:solidFill>
                  <a:schemeClr val="bg2">
                    <a:lumMod val="75000"/>
                  </a:schemeClr>
                </a:solidFill>
              </a:rPr>
              <a:t>研究背景与意义</a:t>
            </a:r>
            <a:endParaRPr lang="en-US" altLang="zh-CN" b="1" dirty="0">
              <a:solidFill>
                <a:schemeClr val="bg2">
                  <a:lumMod val="7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CN" b="1" dirty="0">
                <a:solidFill>
                  <a:schemeClr val="bg2">
                    <a:lumMod val="75000"/>
                  </a:schemeClr>
                </a:solidFill>
              </a:rPr>
              <a:t>FASCA</a:t>
            </a:r>
            <a:r>
              <a:rPr lang="zh-CN" altLang="en-US" b="1" dirty="0">
                <a:solidFill>
                  <a:schemeClr val="bg2">
                    <a:lumMod val="75000"/>
                  </a:schemeClr>
                </a:solidFill>
              </a:rPr>
              <a:t>算法设计思路</a:t>
            </a:r>
            <a:endParaRPr lang="en-US" altLang="zh-CN" b="1" dirty="0">
              <a:solidFill>
                <a:schemeClr val="bg2">
                  <a:lumMod val="7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b="1" dirty="0">
                <a:solidFill>
                  <a:schemeClr val="bg2">
                    <a:lumMod val="75000"/>
                  </a:schemeClr>
                </a:solidFill>
              </a:rPr>
              <a:t>算法总结与分析</a:t>
            </a:r>
            <a:endParaRPr lang="en-US" altLang="zh-CN" b="1" dirty="0">
              <a:solidFill>
                <a:schemeClr val="bg2">
                  <a:lumMod val="7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b="1" dirty="0"/>
              <a:t>实验环境与设置</a:t>
            </a:r>
            <a:endParaRPr lang="en-US" altLang="zh-CN" b="1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b="1" dirty="0"/>
              <a:t>实验结果分析</a:t>
            </a:r>
            <a:endParaRPr lang="en-US" altLang="zh-CN" b="1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b="1" dirty="0"/>
              <a:t>总结与展望</a:t>
            </a:r>
          </a:p>
        </p:txBody>
      </p:sp>
    </p:spTree>
    <p:extLst>
      <p:ext uri="{BB962C8B-B14F-4D97-AF65-F5344CB8AC3E}">
        <p14:creationId xmlns:p14="http://schemas.microsoft.com/office/powerpoint/2010/main" val="5038460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70EBB-8F35-09DC-8428-0AEEFB841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03D3A6-367A-19B6-C68A-515945972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实验环境与设置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A450330A-3C55-5736-8413-4D29DEB63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实验环境：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12CDA0CB-741C-E43B-22FF-D547502175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1704576"/>
              </p:ext>
            </p:extLst>
          </p:nvPr>
        </p:nvGraphicFramePr>
        <p:xfrm>
          <a:off x="1979686" y="2563135"/>
          <a:ext cx="8232628" cy="34336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53270">
                  <a:extLst>
                    <a:ext uri="{9D8B030D-6E8A-4147-A177-3AD203B41FA5}">
                      <a16:colId xmlns:a16="http://schemas.microsoft.com/office/drawing/2014/main" val="1790192551"/>
                    </a:ext>
                  </a:extLst>
                </a:gridCol>
                <a:gridCol w="6479358">
                  <a:extLst>
                    <a:ext uri="{9D8B030D-6E8A-4147-A177-3AD203B41FA5}">
                      <a16:colId xmlns:a16="http://schemas.microsoft.com/office/drawing/2014/main" val="2527136212"/>
                    </a:ext>
                  </a:extLst>
                </a:gridCol>
              </a:tblGrid>
              <a:tr h="85840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2800" kern="100" dirty="0">
                          <a:effectLst/>
                          <a:latin typeface="+mn-lt"/>
                        </a:rPr>
                        <a:t>处理器</a:t>
                      </a:r>
                      <a:endParaRPr lang="zh-CN" sz="2800" kern="10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lnSpc>
                          <a:spcPct val="150000"/>
                        </a:lnSpc>
                        <a:buNone/>
                      </a:pPr>
                      <a:r>
                        <a:rPr lang="en-US" sz="2800" kern="100" dirty="0">
                          <a:effectLst/>
                          <a:latin typeface="+mn-lt"/>
                        </a:rPr>
                        <a:t>AMD Ryzen 5 5500</a:t>
                      </a:r>
                      <a:r>
                        <a:rPr lang="zh-CN" sz="2800" kern="100" dirty="0">
                          <a:effectLst/>
                          <a:latin typeface="+mn-lt"/>
                        </a:rPr>
                        <a:t>（</a:t>
                      </a:r>
                      <a:r>
                        <a:rPr lang="en-US" sz="2800" kern="100" dirty="0">
                          <a:effectLst/>
                          <a:latin typeface="+mn-lt"/>
                        </a:rPr>
                        <a:t>3.60 GHz</a:t>
                      </a:r>
                      <a:r>
                        <a:rPr lang="zh-CN" sz="2800" kern="100" dirty="0">
                          <a:effectLst/>
                          <a:latin typeface="+mn-lt"/>
                        </a:rPr>
                        <a:t>）</a:t>
                      </a:r>
                      <a:endParaRPr lang="zh-CN" sz="2800" kern="10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1117058"/>
                  </a:ext>
                </a:extLst>
              </a:tr>
              <a:tr h="85840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2800" kern="100" dirty="0">
                          <a:effectLst/>
                          <a:latin typeface="+mn-lt"/>
                        </a:rPr>
                        <a:t>内存</a:t>
                      </a:r>
                      <a:endParaRPr lang="zh-CN" sz="2800" kern="10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lnSpc>
                          <a:spcPct val="150000"/>
                        </a:lnSpc>
                        <a:buNone/>
                      </a:pPr>
                      <a:r>
                        <a:rPr lang="en-US" sz="2800" kern="100" dirty="0">
                          <a:effectLst/>
                          <a:latin typeface="+mn-lt"/>
                        </a:rPr>
                        <a:t>16GB</a:t>
                      </a:r>
                      <a:endParaRPr lang="zh-CN" sz="2800" kern="10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2199007"/>
                  </a:ext>
                </a:extLst>
              </a:tr>
              <a:tr h="85840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2800" kern="100">
                          <a:effectLst/>
                          <a:latin typeface="+mn-lt"/>
                        </a:rPr>
                        <a:t>操作系统</a:t>
                      </a:r>
                      <a:endParaRPr lang="zh-CN" sz="2800" kern="10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lnSpc>
                          <a:spcPct val="150000"/>
                        </a:lnSpc>
                        <a:buNone/>
                      </a:pPr>
                      <a:r>
                        <a:rPr lang="en-US" sz="2800" kern="100" dirty="0">
                          <a:effectLst/>
                          <a:latin typeface="+mn-lt"/>
                        </a:rPr>
                        <a:t>Windows 11</a:t>
                      </a:r>
                      <a:r>
                        <a:rPr lang="zh-CN" sz="2800" kern="100" dirty="0">
                          <a:effectLst/>
                          <a:latin typeface="+mn-lt"/>
                        </a:rPr>
                        <a:t>（</a:t>
                      </a:r>
                      <a:r>
                        <a:rPr lang="en-US" sz="2800" kern="100" dirty="0">
                          <a:effectLst/>
                          <a:latin typeface="+mn-lt"/>
                        </a:rPr>
                        <a:t>26200.8037</a:t>
                      </a:r>
                      <a:r>
                        <a:rPr lang="zh-CN" sz="2800" kern="100" dirty="0">
                          <a:effectLst/>
                          <a:latin typeface="+mn-lt"/>
                        </a:rPr>
                        <a:t>）</a:t>
                      </a:r>
                      <a:endParaRPr lang="zh-CN" sz="2800" kern="10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5281336"/>
                  </a:ext>
                </a:extLst>
              </a:tr>
              <a:tr h="85840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2800" kern="100" dirty="0">
                          <a:effectLst/>
                          <a:latin typeface="+mn-lt"/>
                        </a:rPr>
                        <a:t>编程语言</a:t>
                      </a:r>
                      <a:endParaRPr lang="zh-CN" sz="2800" kern="10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266700" algn="l">
                        <a:lnSpc>
                          <a:spcPct val="150000"/>
                        </a:lnSpc>
                        <a:buNone/>
                      </a:pPr>
                      <a:r>
                        <a:rPr lang="en-US" sz="2800" kern="100" dirty="0">
                          <a:effectLst/>
                          <a:latin typeface="+mn-lt"/>
                        </a:rPr>
                        <a:t>Python 3.10.11</a:t>
                      </a:r>
                      <a:endParaRPr lang="zh-CN" sz="2800" kern="100" dirty="0"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89139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24222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C1224-217C-F728-9F5C-983D613C3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2654C0-7790-78AF-7E26-C31DACD9A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实验环境与设置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9FEE3C0B-5A2F-7A4B-1B57-707BFE669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数据集：</a:t>
            </a:r>
            <a:endParaRPr lang="en-US" altLang="zh-CN" b="1" dirty="0"/>
          </a:p>
          <a:p>
            <a:pPr lvl="1"/>
            <a:r>
              <a:rPr lang="zh-CN" altLang="en-US" b="1" dirty="0"/>
              <a:t>人工合成数据集：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84F7F3B-7F5A-E645-29AC-55FB3DBD98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0094692"/>
              </p:ext>
            </p:extLst>
          </p:nvPr>
        </p:nvGraphicFramePr>
        <p:xfrm>
          <a:off x="1637488" y="2842404"/>
          <a:ext cx="8917023" cy="23177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17580">
                  <a:extLst>
                    <a:ext uri="{9D8B030D-6E8A-4147-A177-3AD203B41FA5}">
                      <a16:colId xmlns:a16="http://schemas.microsoft.com/office/drawing/2014/main" val="1091438069"/>
                    </a:ext>
                  </a:extLst>
                </a:gridCol>
                <a:gridCol w="1723058">
                  <a:extLst>
                    <a:ext uri="{9D8B030D-6E8A-4147-A177-3AD203B41FA5}">
                      <a16:colId xmlns:a16="http://schemas.microsoft.com/office/drawing/2014/main" val="3759196827"/>
                    </a:ext>
                  </a:extLst>
                </a:gridCol>
                <a:gridCol w="1567219">
                  <a:extLst>
                    <a:ext uri="{9D8B030D-6E8A-4147-A177-3AD203B41FA5}">
                      <a16:colId xmlns:a16="http://schemas.microsoft.com/office/drawing/2014/main" val="2901635139"/>
                    </a:ext>
                  </a:extLst>
                </a:gridCol>
                <a:gridCol w="1359438">
                  <a:extLst>
                    <a:ext uri="{9D8B030D-6E8A-4147-A177-3AD203B41FA5}">
                      <a16:colId xmlns:a16="http://schemas.microsoft.com/office/drawing/2014/main" val="2575002355"/>
                    </a:ext>
                  </a:extLst>
                </a:gridCol>
                <a:gridCol w="2349728">
                  <a:extLst>
                    <a:ext uri="{9D8B030D-6E8A-4147-A177-3AD203B41FA5}">
                      <a16:colId xmlns:a16="http://schemas.microsoft.com/office/drawing/2014/main" val="2773405777"/>
                    </a:ext>
                  </a:extLst>
                </a:gridCol>
              </a:tblGrid>
              <a:tr h="47754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800" kern="100" dirty="0">
                          <a:effectLst/>
                        </a:rPr>
                        <a:t>数据集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800" kern="100" dirty="0">
                          <a:effectLst/>
                        </a:rPr>
                        <a:t>样本个数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800" kern="100">
                          <a:effectLst/>
                        </a:rPr>
                        <a:t>类个数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800" kern="100">
                          <a:effectLst/>
                        </a:rPr>
                        <a:t>维度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800" kern="100">
                          <a:effectLst/>
                        </a:rPr>
                        <a:t>形状分布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5836870"/>
                  </a:ext>
                </a:extLst>
              </a:tr>
              <a:tr h="34962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DS-1.1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 dirty="0">
                          <a:effectLst/>
                        </a:rPr>
                        <a:t>20000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3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2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800" kern="100">
                          <a:effectLst/>
                        </a:rPr>
                        <a:t>球形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0634618"/>
                  </a:ext>
                </a:extLst>
              </a:tr>
              <a:tr h="34962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DS-1.2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20000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 dirty="0">
                          <a:effectLst/>
                        </a:rPr>
                        <a:t>4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2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800" kern="100">
                          <a:effectLst/>
                        </a:rPr>
                        <a:t>不规则形状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5694398"/>
                  </a:ext>
                </a:extLst>
              </a:tr>
              <a:tr h="36260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DS-1.3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20000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 dirty="0">
                          <a:effectLst/>
                        </a:rPr>
                        <a:t>3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 dirty="0">
                          <a:effectLst/>
                        </a:rPr>
                        <a:t>2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800" kern="100">
                          <a:effectLst/>
                        </a:rPr>
                        <a:t>簇内密度不均匀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105859"/>
                  </a:ext>
                </a:extLst>
              </a:tr>
              <a:tr h="2955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DS-1.4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13000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4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2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800" kern="100">
                          <a:effectLst/>
                        </a:rPr>
                        <a:t>簇间密度不一致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6663617"/>
                  </a:ext>
                </a:extLst>
              </a:tr>
              <a:tr h="34962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DS-1.5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20000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2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kern="100">
                          <a:effectLst/>
                        </a:rPr>
                        <a:t>2</a:t>
                      </a:r>
                      <a:endParaRPr lang="zh-CN" sz="18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800" kern="100" dirty="0">
                          <a:effectLst/>
                        </a:rPr>
                        <a:t>同心环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33033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26599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57722-7309-C75B-3608-ABDFD12AA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9D24F3-C9BB-4DA9-65D6-6453C2554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实验环境与设置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745A29A1-879A-5122-7671-2A9DE56EB3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数据集：</a:t>
            </a:r>
            <a:endParaRPr lang="en-US" altLang="zh-CN" b="1" dirty="0"/>
          </a:p>
          <a:p>
            <a:pPr lvl="1"/>
            <a:r>
              <a:rPr lang="zh-CN" altLang="en-US" b="1" dirty="0"/>
              <a:t>基准数据集：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2043BFC9-F576-075F-DA88-EA2C5E9796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7595180"/>
              </p:ext>
            </p:extLst>
          </p:nvPr>
        </p:nvGraphicFramePr>
        <p:xfrm>
          <a:off x="1632761" y="2784129"/>
          <a:ext cx="8926477" cy="33101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71861">
                  <a:extLst>
                    <a:ext uri="{9D8B030D-6E8A-4147-A177-3AD203B41FA5}">
                      <a16:colId xmlns:a16="http://schemas.microsoft.com/office/drawing/2014/main" val="3618074164"/>
                    </a:ext>
                  </a:extLst>
                </a:gridCol>
                <a:gridCol w="1843911">
                  <a:extLst>
                    <a:ext uri="{9D8B030D-6E8A-4147-A177-3AD203B41FA5}">
                      <a16:colId xmlns:a16="http://schemas.microsoft.com/office/drawing/2014/main" val="3128287460"/>
                    </a:ext>
                  </a:extLst>
                </a:gridCol>
                <a:gridCol w="2049060">
                  <a:extLst>
                    <a:ext uri="{9D8B030D-6E8A-4147-A177-3AD203B41FA5}">
                      <a16:colId xmlns:a16="http://schemas.microsoft.com/office/drawing/2014/main" val="2365616383"/>
                    </a:ext>
                  </a:extLst>
                </a:gridCol>
                <a:gridCol w="1588692">
                  <a:extLst>
                    <a:ext uri="{9D8B030D-6E8A-4147-A177-3AD203B41FA5}">
                      <a16:colId xmlns:a16="http://schemas.microsoft.com/office/drawing/2014/main" val="342129272"/>
                    </a:ext>
                  </a:extLst>
                </a:gridCol>
                <a:gridCol w="1672953">
                  <a:extLst>
                    <a:ext uri="{9D8B030D-6E8A-4147-A177-3AD203B41FA5}">
                      <a16:colId xmlns:a16="http://schemas.microsoft.com/office/drawing/2014/main" val="4140387497"/>
                    </a:ext>
                  </a:extLst>
                </a:gridCol>
              </a:tblGrid>
              <a:tr h="32489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600" kern="100">
                          <a:effectLst/>
                        </a:rPr>
                        <a:t>数据集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600" kern="100" dirty="0">
                          <a:effectLst/>
                        </a:rPr>
                        <a:t>数据集名称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600" kern="100" dirty="0">
                          <a:effectLst/>
                        </a:rPr>
                        <a:t>样本个数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600" kern="100" dirty="0">
                          <a:effectLst/>
                        </a:rPr>
                        <a:t>维度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600" kern="100" dirty="0">
                          <a:effectLst/>
                        </a:rPr>
                        <a:t>来源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3526096"/>
                  </a:ext>
                </a:extLst>
              </a:tr>
              <a:tr h="32489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DS-2.1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Iris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150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4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UCI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4956924"/>
                  </a:ext>
                </a:extLst>
              </a:tr>
              <a:tr h="32489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DS-2.2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</a:rPr>
                        <a:t>Bank Marketing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</a:rPr>
                        <a:t>45210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</a:rPr>
                        <a:t>17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UCI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7184229"/>
                  </a:ext>
                </a:extLst>
              </a:tr>
              <a:tr h="32489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DS-2.3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</a:rPr>
                        <a:t>Adult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48840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14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UCI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8765457"/>
                  </a:ext>
                </a:extLst>
              </a:tr>
              <a:tr h="68812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DS-2.4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Student Performance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649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</a:rPr>
                        <a:t>33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</a:rPr>
                        <a:t>UCI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9389759"/>
                  </a:ext>
                </a:extLst>
              </a:tr>
              <a:tr h="32489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DS-2.5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Online Retail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541910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6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UCI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7146750"/>
                  </a:ext>
                </a:extLst>
              </a:tr>
              <a:tr h="32489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DS-2.6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Dry Bean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13610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16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UCI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5746925"/>
                  </a:ext>
                </a:extLst>
              </a:tr>
              <a:tr h="32489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DS-2.7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Credit Approval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690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15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UCI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096264"/>
                  </a:ext>
                </a:extLst>
              </a:tr>
              <a:tr h="32489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DS-2.8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Spambase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4600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>
                          <a:effectLst/>
                        </a:rPr>
                        <a:t>57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kern="100" dirty="0">
                          <a:effectLst/>
                        </a:rPr>
                        <a:t>UCI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25514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20084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8F773-BC7B-484E-83F1-8C4CB6E08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71BC4C-3556-0D89-0C7D-3642C07B4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实验环境与设置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B9F26A75-BC76-7987-7F86-EF71AE9842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b="1" dirty="0"/>
                  <a:t>参数设置：</a:t>
                </a:r>
                <a:endParaRPr lang="en-US" altLang="zh-CN" b="1" dirty="0"/>
              </a:p>
              <a:p>
                <a:pPr lvl="1"/>
                <a:r>
                  <a:rPr lang="zh-CN" altLang="zh-CN" b="1" dirty="0"/>
                  <a:t>采样收敛阈值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zh-CN" altLang="en-US" b="1" dirty="0"/>
                  <a:t>：</a:t>
                </a:r>
              </a:p>
            </p:txBody>
          </p:sp>
        </mc:Choice>
        <mc:Fallback xmlns="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B9F26A75-BC76-7987-7F86-EF71AE9842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EAE7B28B-2016-F5F8-F9DE-B855D7C1C79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220" y="2757687"/>
            <a:ext cx="5925221" cy="35542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41320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72BCE-D365-2072-4696-B8619F085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ACFC56B-5A4A-5CA1-953E-A6608DBF27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194" y="2745733"/>
            <a:ext cx="5943612" cy="356616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7862ADBB-CCCD-938B-E5A7-4939DF74A4BA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>
            <a:normAutofit/>
          </a:bodyPr>
          <a:lstStyle/>
          <a:p>
            <a:r>
              <a:rPr lang="en-US" altLang="zh-CN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实验环境与设置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64DB8C56-FB4F-B104-6860-31A0B97C2E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b="1" dirty="0"/>
                  <a:t>参数设置：</a:t>
                </a:r>
                <a:endParaRPr lang="en-US" altLang="zh-CN" b="1" dirty="0"/>
              </a:p>
              <a:p>
                <a:pPr lvl="1"/>
                <a:r>
                  <a:rPr lang="zh-CN" altLang="zh-CN" b="1" dirty="0"/>
                  <a:t>迭代次数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zh-CN" altLang="en-US" b="1" dirty="0"/>
                  <a:t>：</a:t>
                </a:r>
              </a:p>
            </p:txBody>
          </p:sp>
        </mc:Choice>
        <mc:Fallback xmlns="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64DB8C56-FB4F-B104-6860-31A0B97C2E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77452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0BE1F-7B01-65D1-6C29-68F1AFDCB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A87D1C6F-5267-A6CB-7A55-AAA0330E22F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0696" y="2751709"/>
            <a:ext cx="5943612" cy="356616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FF9D887E-6F77-103D-930C-FCCA4D677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实验环境与设置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DC2C2C04-478C-5A4D-3C8F-013ACC2B44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b="1" dirty="0"/>
                  <a:t>参数设置：</a:t>
                </a:r>
                <a:endParaRPr lang="en-US" altLang="zh-CN" b="1" dirty="0"/>
              </a:p>
              <a:p>
                <a:pPr lvl="1"/>
                <a:r>
                  <a:rPr lang="zh-CN" altLang="en-US" b="1" dirty="0"/>
                  <a:t>近邻参数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b="1" dirty="0"/>
                  <a:t>：</a:t>
                </a:r>
              </a:p>
            </p:txBody>
          </p:sp>
        </mc:Choice>
        <mc:Fallback xmlns="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DC2C2C04-478C-5A4D-3C8F-013ACC2B44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16977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53648-ECD7-2CE3-1F13-ABED20744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914D82-CE8F-51DE-2005-2CE7E0853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EC8D97-DA5B-565B-6C9D-E18CF6A3D7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CN" altLang="en-US" b="1" dirty="0">
                <a:solidFill>
                  <a:schemeClr val="bg2">
                    <a:lumMod val="75000"/>
                  </a:schemeClr>
                </a:solidFill>
              </a:rPr>
              <a:t>研究背景与意义</a:t>
            </a:r>
            <a:endParaRPr lang="en-US" altLang="zh-CN" b="1" dirty="0">
              <a:solidFill>
                <a:schemeClr val="bg2">
                  <a:lumMod val="7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CN" b="1" dirty="0">
                <a:solidFill>
                  <a:schemeClr val="bg2">
                    <a:lumMod val="75000"/>
                  </a:schemeClr>
                </a:solidFill>
              </a:rPr>
              <a:t>FASCA</a:t>
            </a:r>
            <a:r>
              <a:rPr lang="zh-CN" altLang="en-US" b="1" dirty="0">
                <a:solidFill>
                  <a:schemeClr val="bg2">
                    <a:lumMod val="75000"/>
                  </a:schemeClr>
                </a:solidFill>
              </a:rPr>
              <a:t>算法设计思路</a:t>
            </a:r>
            <a:endParaRPr lang="en-US" altLang="zh-CN" b="1" dirty="0">
              <a:solidFill>
                <a:schemeClr val="bg2">
                  <a:lumMod val="7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b="1" dirty="0">
                <a:solidFill>
                  <a:schemeClr val="bg2">
                    <a:lumMod val="75000"/>
                  </a:schemeClr>
                </a:solidFill>
              </a:rPr>
              <a:t>算法总结与分析</a:t>
            </a:r>
            <a:endParaRPr lang="en-US" altLang="zh-CN" b="1" dirty="0">
              <a:solidFill>
                <a:schemeClr val="bg2">
                  <a:lumMod val="7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b="1" dirty="0">
                <a:solidFill>
                  <a:schemeClr val="bg2">
                    <a:lumMod val="75000"/>
                  </a:schemeClr>
                </a:solidFill>
              </a:rPr>
              <a:t>实验环境与设置</a:t>
            </a:r>
            <a:endParaRPr lang="en-US" altLang="zh-CN" b="1" dirty="0">
              <a:solidFill>
                <a:schemeClr val="bg2">
                  <a:lumMod val="7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b="1" dirty="0"/>
              <a:t>实验结果分析</a:t>
            </a:r>
            <a:endParaRPr lang="en-US" altLang="zh-CN" b="1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b="1" dirty="0"/>
              <a:t>总结与展望</a:t>
            </a:r>
          </a:p>
        </p:txBody>
      </p:sp>
    </p:spTree>
    <p:extLst>
      <p:ext uri="{BB962C8B-B14F-4D97-AF65-F5344CB8AC3E}">
        <p14:creationId xmlns:p14="http://schemas.microsoft.com/office/powerpoint/2010/main" val="28415164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54620-567F-B107-8483-87D210760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AEEE9B-A7BA-F1E8-4C6C-FC9F4E801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实验结果分析</a:t>
            </a:r>
          </a:p>
        </p:txBody>
      </p:sp>
      <p:sp>
        <p:nvSpPr>
          <p:cNvPr id="4" name="Text Box 13">
            <a:extLst>
              <a:ext uri="{FF2B5EF4-FFF2-40B4-BE49-F238E27FC236}">
                <a16:creationId xmlns:a16="http://schemas.microsoft.com/office/drawing/2014/main" id="{C89DB94C-DC26-2678-23AC-EF2641FE67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9037" y="1360433"/>
            <a:ext cx="5658329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5125" indent="-255588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marL="109537" indent="0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定性分析:  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C12E868A-CCD3-CFAE-BD1C-655E3601EC92}"/>
              </a:ext>
            </a:extLst>
          </p:cNvPr>
          <p:cNvSpPr txBox="1">
            <a:spLocks/>
          </p:cNvSpPr>
          <p:nvPr/>
        </p:nvSpPr>
        <p:spPr>
          <a:xfrm>
            <a:off x="1189037" y="1936369"/>
            <a:ext cx="880556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球形分布的数据集：</a:t>
            </a:r>
            <a:endParaRPr lang="en-US" altLang="zh-CN" b="1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2D253AF-B50F-0C03-6FE0-F8FAFB4B7E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5694" y="2476186"/>
            <a:ext cx="4660611" cy="37119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44528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9BDF3-1D9B-DF71-6676-05444E883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490FE1-482F-60FC-A5ED-1E9877F7D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实验结果分析</a:t>
            </a:r>
          </a:p>
        </p:txBody>
      </p:sp>
      <p:sp>
        <p:nvSpPr>
          <p:cNvPr id="4" name="Text Box 13">
            <a:extLst>
              <a:ext uri="{FF2B5EF4-FFF2-40B4-BE49-F238E27FC236}">
                <a16:creationId xmlns:a16="http://schemas.microsoft.com/office/drawing/2014/main" id="{5412712E-6967-3219-896D-A98DC95710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9037" y="1360433"/>
            <a:ext cx="5658329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5125" indent="-255588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marL="109537" indent="0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定性分析:  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E734019A-C452-EBB4-47BD-F2F81887BF5A}"/>
              </a:ext>
            </a:extLst>
          </p:cNvPr>
          <p:cNvSpPr txBox="1">
            <a:spLocks/>
          </p:cNvSpPr>
          <p:nvPr/>
        </p:nvSpPr>
        <p:spPr>
          <a:xfrm>
            <a:off x="1189037" y="1936369"/>
            <a:ext cx="880556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b="1" dirty="0"/>
              <a:t>不规则形状分布的数据集：</a:t>
            </a:r>
            <a:endParaRPr lang="en-US" altLang="zh-CN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B329E2D-BAAC-A186-F50C-9A3DC96CB25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9749" y="2474364"/>
            <a:ext cx="4639421" cy="36993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113237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3523D-6EA4-7429-57BA-7FC30308B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2947A2B-986A-E441-5FCF-926E496FC84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1032" y="2476186"/>
            <a:ext cx="4658482" cy="371196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A068084A-B439-4E43-115D-C5F069A48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实验结果分析</a:t>
            </a:r>
          </a:p>
        </p:txBody>
      </p:sp>
      <p:sp>
        <p:nvSpPr>
          <p:cNvPr id="4" name="Text Box 13">
            <a:extLst>
              <a:ext uri="{FF2B5EF4-FFF2-40B4-BE49-F238E27FC236}">
                <a16:creationId xmlns:a16="http://schemas.microsoft.com/office/drawing/2014/main" id="{1AC168D5-BC98-AF01-A99A-AFB8C85BA2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9037" y="1360433"/>
            <a:ext cx="5658329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5125" indent="-255588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marL="109537" indent="0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定性分析:  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5013CEFA-9A56-0E3A-8C15-45CC1A8F59C6}"/>
              </a:ext>
            </a:extLst>
          </p:cNvPr>
          <p:cNvSpPr txBox="1">
            <a:spLocks/>
          </p:cNvSpPr>
          <p:nvPr/>
        </p:nvSpPr>
        <p:spPr>
          <a:xfrm>
            <a:off x="1189037" y="1936369"/>
            <a:ext cx="880556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簇内密度不均匀的数据集：</a:t>
            </a:r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27142882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4811E-54E9-5BFA-EDB9-BF027C150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DEA4A5E-528C-C02B-8811-30BB4B0EF6C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5693" y="2474490"/>
            <a:ext cx="4660611" cy="371366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35345664-FED6-E014-7D09-FC63F2BC5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实验结果分析</a:t>
            </a:r>
          </a:p>
        </p:txBody>
      </p:sp>
      <p:sp>
        <p:nvSpPr>
          <p:cNvPr id="4" name="Text Box 13">
            <a:extLst>
              <a:ext uri="{FF2B5EF4-FFF2-40B4-BE49-F238E27FC236}">
                <a16:creationId xmlns:a16="http://schemas.microsoft.com/office/drawing/2014/main" id="{C4180900-B699-44DD-7740-3CDCB69655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9037" y="1360433"/>
            <a:ext cx="5658329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5125" indent="-255588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marL="109537" indent="0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定性分析:  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51EADF1D-30C6-EB13-D71B-D952090D8AE8}"/>
              </a:ext>
            </a:extLst>
          </p:cNvPr>
          <p:cNvSpPr txBox="1">
            <a:spLocks/>
          </p:cNvSpPr>
          <p:nvPr/>
        </p:nvSpPr>
        <p:spPr>
          <a:xfrm>
            <a:off x="1189037" y="1936369"/>
            <a:ext cx="880556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b="1" dirty="0"/>
              <a:t>簇间密度不一致的数据集：</a:t>
            </a:r>
            <a:endParaRPr lang="zh-CN" altLang="zh-CN" dirty="0"/>
          </a:p>
          <a:p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7882789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1AB81-79DC-3C22-533F-28567778A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C052478-A7F6-9637-11D7-B2E697121B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5693" y="2476186"/>
            <a:ext cx="4660611" cy="371366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7BD79030-17DE-7E61-0170-C6B36A2F5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实验结果分析</a:t>
            </a:r>
          </a:p>
        </p:txBody>
      </p:sp>
      <p:sp>
        <p:nvSpPr>
          <p:cNvPr id="4" name="Text Box 13">
            <a:extLst>
              <a:ext uri="{FF2B5EF4-FFF2-40B4-BE49-F238E27FC236}">
                <a16:creationId xmlns:a16="http://schemas.microsoft.com/office/drawing/2014/main" id="{0B824E9B-1546-4D72-27EE-3E20A5F5CA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9037" y="1360433"/>
            <a:ext cx="5658329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5125" indent="-255588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marL="109537" indent="0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定性分析:  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7E4A1761-38AE-63C7-4995-8F1368BF582C}"/>
              </a:ext>
            </a:extLst>
          </p:cNvPr>
          <p:cNvSpPr txBox="1">
            <a:spLocks/>
          </p:cNvSpPr>
          <p:nvPr/>
        </p:nvSpPr>
        <p:spPr>
          <a:xfrm>
            <a:off x="1189037" y="1936369"/>
            <a:ext cx="880556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b="1" dirty="0"/>
              <a:t>同心环形分布的数据集：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3269041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DA8C0-73D3-A4E8-43BA-6A082FC66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8A9D34-A2A7-CCD1-D477-C3F6024F0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实验结果分析</a:t>
            </a:r>
          </a:p>
        </p:txBody>
      </p:sp>
      <p:sp>
        <p:nvSpPr>
          <p:cNvPr id="4" name="Text Box 13">
            <a:extLst>
              <a:ext uri="{FF2B5EF4-FFF2-40B4-BE49-F238E27FC236}">
                <a16:creationId xmlns:a16="http://schemas.microsoft.com/office/drawing/2014/main" id="{E47F1DF6-3775-05DF-1552-B3E6A3FC3B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9037" y="1360433"/>
            <a:ext cx="5658329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5125" indent="-255588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marL="109537" indent="0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定量分析:  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BAF49EE1-5CC6-7F72-7742-E070E2C48A0E}"/>
              </a:ext>
            </a:extLst>
          </p:cNvPr>
          <p:cNvSpPr txBox="1">
            <a:spLocks/>
          </p:cNvSpPr>
          <p:nvPr/>
        </p:nvSpPr>
        <p:spPr>
          <a:xfrm>
            <a:off x="1189037" y="1936369"/>
            <a:ext cx="880556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算法</a:t>
            </a:r>
            <a:r>
              <a:rPr lang="en-US" altLang="zh-CN" b="1" dirty="0"/>
              <a:t>ARI</a:t>
            </a:r>
            <a:r>
              <a:rPr lang="zh-CN" altLang="en-US" b="1" dirty="0"/>
              <a:t>对比</a:t>
            </a:r>
            <a:r>
              <a:rPr lang="zh-CN" altLang="zh-CN" b="1" dirty="0"/>
              <a:t>：</a:t>
            </a:r>
            <a:endParaRPr lang="zh-CN" altLang="zh-CN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D4F1878-4DDB-377C-2231-E960C48B1A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459661"/>
              </p:ext>
            </p:extLst>
          </p:nvPr>
        </p:nvGraphicFramePr>
        <p:xfrm>
          <a:off x="1851874" y="2558405"/>
          <a:ext cx="9151089" cy="34808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2654">
                  <a:extLst>
                    <a:ext uri="{9D8B030D-6E8A-4147-A177-3AD203B41FA5}">
                      <a16:colId xmlns:a16="http://schemas.microsoft.com/office/drawing/2014/main" val="663392574"/>
                    </a:ext>
                  </a:extLst>
                </a:gridCol>
                <a:gridCol w="1397664">
                  <a:extLst>
                    <a:ext uri="{9D8B030D-6E8A-4147-A177-3AD203B41FA5}">
                      <a16:colId xmlns:a16="http://schemas.microsoft.com/office/drawing/2014/main" val="1186177561"/>
                    </a:ext>
                  </a:extLst>
                </a:gridCol>
                <a:gridCol w="950113">
                  <a:extLst>
                    <a:ext uri="{9D8B030D-6E8A-4147-A177-3AD203B41FA5}">
                      <a16:colId xmlns:a16="http://schemas.microsoft.com/office/drawing/2014/main" val="1316768984"/>
                    </a:ext>
                  </a:extLst>
                </a:gridCol>
                <a:gridCol w="1063877">
                  <a:extLst>
                    <a:ext uri="{9D8B030D-6E8A-4147-A177-3AD203B41FA5}">
                      <a16:colId xmlns:a16="http://schemas.microsoft.com/office/drawing/2014/main" val="4185061374"/>
                    </a:ext>
                  </a:extLst>
                </a:gridCol>
                <a:gridCol w="950113">
                  <a:extLst>
                    <a:ext uri="{9D8B030D-6E8A-4147-A177-3AD203B41FA5}">
                      <a16:colId xmlns:a16="http://schemas.microsoft.com/office/drawing/2014/main" val="1394502440"/>
                    </a:ext>
                  </a:extLst>
                </a:gridCol>
                <a:gridCol w="976368">
                  <a:extLst>
                    <a:ext uri="{9D8B030D-6E8A-4147-A177-3AD203B41FA5}">
                      <a16:colId xmlns:a16="http://schemas.microsoft.com/office/drawing/2014/main" val="681804113"/>
                    </a:ext>
                  </a:extLst>
                </a:gridCol>
                <a:gridCol w="1255150">
                  <a:extLst>
                    <a:ext uri="{9D8B030D-6E8A-4147-A177-3AD203B41FA5}">
                      <a16:colId xmlns:a16="http://schemas.microsoft.com/office/drawing/2014/main" val="607523980"/>
                    </a:ext>
                  </a:extLst>
                </a:gridCol>
                <a:gridCol w="1255150">
                  <a:extLst>
                    <a:ext uri="{9D8B030D-6E8A-4147-A177-3AD203B41FA5}">
                      <a16:colId xmlns:a16="http://schemas.microsoft.com/office/drawing/2014/main" val="192405027"/>
                    </a:ext>
                  </a:extLst>
                </a:gridCol>
              </a:tblGrid>
              <a:tr h="71526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zh-CN" sz="1400" kern="100" dirty="0">
                          <a:effectLst/>
                        </a:rPr>
                        <a:t>数据集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K-means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DBSCAN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CURE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HK-means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AP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Spectral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FASCA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993440"/>
                  </a:ext>
                </a:extLst>
              </a:tr>
              <a:tr h="34570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DS-2.1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0.290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0.201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0.432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0.417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0.120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0.406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b="1" kern="100" dirty="0">
                          <a:effectLst/>
                        </a:rPr>
                        <a:t>0.572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3416574"/>
                  </a:ext>
                </a:extLst>
              </a:tr>
              <a:tr h="34570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DS-2.2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0.459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0.424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0.515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0.498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0.242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0.467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b="1" kern="100" dirty="0">
                          <a:effectLst/>
                        </a:rPr>
                        <a:t>0.763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0146559"/>
                  </a:ext>
                </a:extLst>
              </a:tr>
              <a:tr h="34570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DS-2.3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0.187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0.134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0.245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0.327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0.103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0.218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b="1" kern="100" dirty="0">
                          <a:effectLst/>
                        </a:rPr>
                        <a:t>0.564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4964391"/>
                  </a:ext>
                </a:extLst>
              </a:tr>
              <a:tr h="34570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DS-2.4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0.132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0.189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0.201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0.311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0.081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0.192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b="1" kern="100" dirty="0">
                          <a:effectLst/>
                        </a:rPr>
                        <a:t>0.321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457594"/>
                  </a:ext>
                </a:extLst>
              </a:tr>
              <a:tr h="34570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DS-2.5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0.781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0.852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b="1" kern="100" dirty="0">
                          <a:effectLst/>
                        </a:rPr>
                        <a:t>0.989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0.972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0.812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0.874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effectLst/>
                        </a:rPr>
                        <a:t>0.956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0147393"/>
                  </a:ext>
                </a:extLst>
              </a:tr>
              <a:tr h="34570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DS-2.6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0.137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0.112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0.243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0.170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0.065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0.154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b="1" kern="100" dirty="0">
                          <a:effectLst/>
                        </a:rPr>
                        <a:t>0.342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3163186"/>
                  </a:ext>
                </a:extLst>
              </a:tr>
              <a:tr h="34570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DS-2.7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0.142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0.137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0.285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0.188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0.113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0.170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b="1" kern="100" dirty="0">
                          <a:effectLst/>
                        </a:rPr>
                        <a:t>0.412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694435"/>
                  </a:ext>
                </a:extLst>
              </a:tr>
              <a:tr h="34570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DS-2.8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0.117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0.124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0.198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0.154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0.051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0.137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400" b="1" kern="100" dirty="0">
                          <a:effectLst/>
                        </a:rPr>
                        <a:t>0.293</a:t>
                      </a:r>
                      <a:endParaRPr lang="zh-CN" sz="14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5705" marR="6570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67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89879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E956C-3AE5-A088-353F-BAE3661E3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793548E1-5060-E87A-FAF0-66A142F1CE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6590512"/>
              </p:ext>
            </p:extLst>
          </p:nvPr>
        </p:nvGraphicFramePr>
        <p:xfrm>
          <a:off x="1851874" y="2558405"/>
          <a:ext cx="9151089" cy="34808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2452">
                  <a:extLst>
                    <a:ext uri="{9D8B030D-6E8A-4147-A177-3AD203B41FA5}">
                      <a16:colId xmlns:a16="http://schemas.microsoft.com/office/drawing/2014/main" val="338073767"/>
                    </a:ext>
                  </a:extLst>
                </a:gridCol>
                <a:gridCol w="1396409">
                  <a:extLst>
                    <a:ext uri="{9D8B030D-6E8A-4147-A177-3AD203B41FA5}">
                      <a16:colId xmlns:a16="http://schemas.microsoft.com/office/drawing/2014/main" val="4038246324"/>
                    </a:ext>
                  </a:extLst>
                </a:gridCol>
                <a:gridCol w="971107">
                  <a:extLst>
                    <a:ext uri="{9D8B030D-6E8A-4147-A177-3AD203B41FA5}">
                      <a16:colId xmlns:a16="http://schemas.microsoft.com/office/drawing/2014/main" val="1623947131"/>
                    </a:ext>
                  </a:extLst>
                </a:gridCol>
                <a:gridCol w="1056167">
                  <a:extLst>
                    <a:ext uri="{9D8B030D-6E8A-4147-A177-3AD203B41FA5}">
                      <a16:colId xmlns:a16="http://schemas.microsoft.com/office/drawing/2014/main" val="1112992908"/>
                    </a:ext>
                  </a:extLst>
                </a:gridCol>
                <a:gridCol w="949842">
                  <a:extLst>
                    <a:ext uri="{9D8B030D-6E8A-4147-A177-3AD203B41FA5}">
                      <a16:colId xmlns:a16="http://schemas.microsoft.com/office/drawing/2014/main" val="4088101081"/>
                    </a:ext>
                  </a:extLst>
                </a:gridCol>
                <a:gridCol w="964019">
                  <a:extLst>
                    <a:ext uri="{9D8B030D-6E8A-4147-A177-3AD203B41FA5}">
                      <a16:colId xmlns:a16="http://schemas.microsoft.com/office/drawing/2014/main" val="1297409142"/>
                    </a:ext>
                  </a:extLst>
                </a:gridCol>
                <a:gridCol w="1261730">
                  <a:extLst>
                    <a:ext uri="{9D8B030D-6E8A-4147-A177-3AD203B41FA5}">
                      <a16:colId xmlns:a16="http://schemas.microsoft.com/office/drawing/2014/main" val="888542120"/>
                    </a:ext>
                  </a:extLst>
                </a:gridCol>
                <a:gridCol w="1249363">
                  <a:extLst>
                    <a:ext uri="{9D8B030D-6E8A-4147-A177-3AD203B41FA5}">
                      <a16:colId xmlns:a16="http://schemas.microsoft.com/office/drawing/2014/main" val="2500796733"/>
                    </a:ext>
                  </a:extLst>
                </a:gridCol>
              </a:tblGrid>
              <a:tr h="61510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4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数据集</a:t>
                      </a: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K-means</a:t>
                      </a:r>
                      <a:endParaRPr lang="zh-CN" altLang="en-US" sz="14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DBSCAN</a:t>
                      </a:r>
                      <a:endParaRPr lang="zh-CN" altLang="en-US" sz="14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CURE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HK-means</a:t>
                      </a:r>
                      <a:endParaRPr lang="zh-CN" altLang="en-US" sz="14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</a:t>
                      </a:r>
                      <a:endParaRPr lang="zh-CN" altLang="en-US" sz="14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Spectral</a:t>
                      </a:r>
                      <a:endParaRPr lang="zh-CN" altLang="en-US" sz="14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FASCA</a:t>
                      </a:r>
                      <a:endParaRPr lang="zh-CN" altLang="en-US" sz="14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419146"/>
                  </a:ext>
                </a:extLst>
              </a:tr>
              <a:tr h="29109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DS-2.1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b="1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0.008</a:t>
                      </a:r>
                      <a:endParaRPr lang="zh-CN" altLang="en-US" sz="1400" b="1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0.101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0.145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0.132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0.228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0.250</a:t>
                      </a:r>
                      <a:endParaRPr lang="zh-CN" altLang="en-US" sz="14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0.121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9089789"/>
                  </a:ext>
                </a:extLst>
              </a:tr>
              <a:tr h="42535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DS-2.2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12.958</a:t>
                      </a:r>
                      <a:endParaRPr lang="zh-CN" altLang="en-US" sz="14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20.132</a:t>
                      </a:r>
                      <a:endParaRPr lang="zh-CN" altLang="en-US" sz="14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73.742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36.758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135.123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167.572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b="1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10.425</a:t>
                      </a:r>
                      <a:endParaRPr lang="zh-CN" altLang="en-US" sz="1400" b="1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1808089"/>
                  </a:ext>
                </a:extLst>
              </a:tr>
              <a:tr h="42535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DS-2.3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9.154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17.295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30.468</a:t>
                      </a:r>
                      <a:endParaRPr lang="zh-CN" altLang="en-US" sz="14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26.642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40.145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38.538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b="1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9.672</a:t>
                      </a:r>
                      <a:endParaRPr lang="zh-CN" altLang="en-US" sz="1400" b="1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7796349"/>
                  </a:ext>
                </a:extLst>
              </a:tr>
              <a:tr h="29109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DS-2.4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b="1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0.383</a:t>
                      </a:r>
                      <a:endParaRPr lang="zh-CN" altLang="en-US" sz="1400" b="1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1.452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1.860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1.538</a:t>
                      </a:r>
                      <a:endParaRPr lang="zh-CN" altLang="en-US" sz="14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4.125</a:t>
                      </a:r>
                      <a:endParaRPr lang="zh-CN" altLang="en-US" sz="14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6.512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1.242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7911555"/>
                  </a:ext>
                </a:extLst>
              </a:tr>
              <a:tr h="42535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DS-2.5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70.750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455.964</a:t>
                      </a:r>
                      <a:endParaRPr lang="zh-CN" altLang="en-US" sz="14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677.752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500.230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900.651</a:t>
                      </a:r>
                      <a:endParaRPr lang="zh-CN" altLang="en-US" sz="14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992.732</a:t>
                      </a:r>
                      <a:endParaRPr lang="zh-CN" altLang="en-US" sz="14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b="1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50.648</a:t>
                      </a:r>
                      <a:endParaRPr lang="zh-CN" altLang="en-US" sz="1400" b="1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646520"/>
                  </a:ext>
                </a:extLst>
              </a:tr>
              <a:tr h="42535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DS-2.6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9.860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12.728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53.562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16.262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163.865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174.174</a:t>
                      </a:r>
                      <a:endParaRPr lang="zh-CN" altLang="en-US" sz="14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b="1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8.791</a:t>
                      </a:r>
                      <a:endParaRPr lang="zh-CN" altLang="en-US" sz="1400" b="1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0737672"/>
                  </a:ext>
                </a:extLst>
              </a:tr>
              <a:tr h="29109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DS-2.7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b="1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0.126</a:t>
                      </a:r>
                      <a:endParaRPr lang="zh-CN" altLang="en-US" sz="1400" b="1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0.157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0.172</a:t>
                      </a:r>
                      <a:endParaRPr lang="zh-CN" altLang="en-US" sz="14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0.192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0.272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0.293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0.141</a:t>
                      </a:r>
                      <a:endParaRPr lang="zh-CN" altLang="en-US" sz="14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625324"/>
                  </a:ext>
                </a:extLst>
              </a:tr>
              <a:tr h="29109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DS-2.8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0.251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0.378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0.575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0.425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1.620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kern="1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1.845</a:t>
                      </a:r>
                      <a:endParaRPr lang="zh-CN" altLang="en-US" sz="1400" kern="1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buNone/>
                      </a:pPr>
                      <a:r>
                        <a:rPr lang="en-US" sz="1400" b="1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0.231</a:t>
                      </a:r>
                      <a:endParaRPr lang="zh-CN" altLang="en-US" sz="1400" b="1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407" marR="624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8165281"/>
                  </a:ext>
                </a:extLst>
              </a:tr>
            </a:tbl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147CF6D7-44EF-59E7-90AF-D70C2AE07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实验结果分析</a:t>
            </a:r>
          </a:p>
        </p:txBody>
      </p:sp>
      <p:sp>
        <p:nvSpPr>
          <p:cNvPr id="4" name="Text Box 13">
            <a:extLst>
              <a:ext uri="{FF2B5EF4-FFF2-40B4-BE49-F238E27FC236}">
                <a16:creationId xmlns:a16="http://schemas.microsoft.com/office/drawing/2014/main" id="{03CA3D58-D17E-EF40-4572-BFD478F2A5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9037" y="1360433"/>
            <a:ext cx="5658329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5125" indent="-255588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marL="109537" indent="0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定量分析:  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DE22105-2EF1-1425-CCDE-04B0D459ACAF}"/>
              </a:ext>
            </a:extLst>
          </p:cNvPr>
          <p:cNvSpPr txBox="1">
            <a:spLocks/>
          </p:cNvSpPr>
          <p:nvPr/>
        </p:nvSpPr>
        <p:spPr>
          <a:xfrm>
            <a:off x="1189037" y="1936369"/>
            <a:ext cx="880556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算法运行效率对比</a:t>
            </a:r>
            <a:r>
              <a:rPr lang="zh-CN" altLang="zh-CN" b="1" dirty="0"/>
              <a:t>：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32247825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3430A-B198-EB9A-EAF1-A52BF528E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959CF2-C8E9-B9CF-AD39-DF63D10C5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AE9C3F-A2E3-2D34-886F-ACCAF26D4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CN" altLang="en-US" b="1" dirty="0">
                <a:solidFill>
                  <a:schemeClr val="bg2">
                    <a:lumMod val="75000"/>
                  </a:schemeClr>
                </a:solidFill>
              </a:rPr>
              <a:t>研究背景与意义</a:t>
            </a:r>
            <a:endParaRPr lang="en-US" altLang="zh-CN" b="1" dirty="0">
              <a:solidFill>
                <a:schemeClr val="bg2">
                  <a:lumMod val="7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CN" b="1" dirty="0">
                <a:solidFill>
                  <a:schemeClr val="bg2">
                    <a:lumMod val="75000"/>
                  </a:schemeClr>
                </a:solidFill>
              </a:rPr>
              <a:t>FASCA</a:t>
            </a:r>
            <a:r>
              <a:rPr lang="zh-CN" altLang="en-US" b="1" dirty="0">
                <a:solidFill>
                  <a:schemeClr val="bg2">
                    <a:lumMod val="75000"/>
                  </a:schemeClr>
                </a:solidFill>
              </a:rPr>
              <a:t>算法设计思路</a:t>
            </a:r>
            <a:endParaRPr lang="en-US" altLang="zh-CN" b="1" dirty="0">
              <a:solidFill>
                <a:schemeClr val="bg2">
                  <a:lumMod val="7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b="1" dirty="0">
                <a:solidFill>
                  <a:schemeClr val="bg2">
                    <a:lumMod val="75000"/>
                  </a:schemeClr>
                </a:solidFill>
              </a:rPr>
              <a:t>算法总结与分析</a:t>
            </a:r>
            <a:endParaRPr lang="en-US" altLang="zh-CN" b="1" dirty="0">
              <a:solidFill>
                <a:schemeClr val="bg2">
                  <a:lumMod val="7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b="1" dirty="0">
                <a:solidFill>
                  <a:schemeClr val="bg2">
                    <a:lumMod val="75000"/>
                  </a:schemeClr>
                </a:solidFill>
              </a:rPr>
              <a:t>实验环境与设置</a:t>
            </a:r>
            <a:endParaRPr lang="en-US" altLang="zh-CN" b="1" dirty="0">
              <a:solidFill>
                <a:schemeClr val="bg2">
                  <a:lumMod val="7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b="1" dirty="0">
                <a:solidFill>
                  <a:schemeClr val="bg2">
                    <a:lumMod val="75000"/>
                  </a:schemeClr>
                </a:solidFill>
              </a:rPr>
              <a:t>实验结果分析</a:t>
            </a:r>
            <a:endParaRPr lang="en-US" altLang="zh-CN" b="1" dirty="0">
              <a:solidFill>
                <a:schemeClr val="bg2">
                  <a:lumMod val="7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b="1" dirty="0"/>
              <a:t>总结与展望</a:t>
            </a:r>
          </a:p>
        </p:txBody>
      </p:sp>
    </p:spTree>
    <p:extLst>
      <p:ext uri="{BB962C8B-B14F-4D97-AF65-F5344CB8AC3E}">
        <p14:creationId xmlns:p14="http://schemas.microsoft.com/office/powerpoint/2010/main" val="25156224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2BACF-4F6D-E913-1C28-E51C15B30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DB2B12-D5AC-1AE1-3D2C-F31495244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</a:t>
            </a:r>
            <a:r>
              <a:rPr lang="zh-CN" altLang="en-US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总结与展望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F92053BD-CBE5-400B-9B70-26A94FBFE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zh-CN" altLang="en-US" b="1" dirty="0"/>
              <a:t>结论：</a:t>
            </a:r>
            <a:endParaRPr lang="en-US" altLang="zh-CN" b="1" dirty="0"/>
          </a:p>
          <a:p>
            <a:pPr lvl="1"/>
            <a:r>
              <a:rPr lang="en-US" altLang="zh-CN" dirty="0"/>
              <a:t>FASCA</a:t>
            </a:r>
            <a:r>
              <a:rPr lang="zh-CN" altLang="en-US" dirty="0"/>
              <a:t>算法通过代表点采样、代表点位置调整策略，在聚类结果准确性和计算效率间取得平衡。</a:t>
            </a:r>
            <a:endParaRPr lang="en-US" altLang="zh-CN" dirty="0"/>
          </a:p>
          <a:p>
            <a:r>
              <a:rPr lang="zh-CN" altLang="en-US" b="1" dirty="0"/>
              <a:t>优势：</a:t>
            </a:r>
            <a:endParaRPr lang="en-US" altLang="zh-CN" b="1" dirty="0"/>
          </a:p>
          <a:p>
            <a:pPr lvl="1"/>
            <a:r>
              <a:rPr lang="zh-CN" altLang="en-US" b="1" dirty="0"/>
              <a:t>高效：</a:t>
            </a:r>
            <a:r>
              <a:rPr lang="zh-CN" altLang="en-US" dirty="0"/>
              <a:t>代表点采样策略大大降低了算法时间复杂度。</a:t>
            </a:r>
            <a:endParaRPr lang="en-US" altLang="zh-CN" dirty="0"/>
          </a:p>
          <a:p>
            <a:pPr lvl="1"/>
            <a:r>
              <a:rPr lang="zh-CN" altLang="en-US" b="1" dirty="0"/>
              <a:t>准确：</a:t>
            </a:r>
            <a:r>
              <a:rPr lang="zh-CN" altLang="en-US" dirty="0"/>
              <a:t>最远端采样策略能保持原数据结构；物理模型能够使得同簇间的数据更加聚拢。</a:t>
            </a:r>
            <a:endParaRPr lang="en-US" altLang="zh-CN" dirty="0"/>
          </a:p>
          <a:p>
            <a:pPr lvl="1"/>
            <a:r>
              <a:rPr lang="zh-CN" altLang="en-US" b="1" dirty="0"/>
              <a:t>抗噪：</a:t>
            </a:r>
            <a:r>
              <a:rPr lang="zh-CN" altLang="en-US" dirty="0"/>
              <a:t>快速离群点检测算法能够有效去除背景噪声。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6673581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E85D9-78C7-2C24-25D4-7117A421A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20B746-0E01-FE19-91CC-7442C0248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</a:t>
            </a:r>
            <a:r>
              <a:rPr lang="zh-CN" altLang="en-US" sz="4000" dirty="0">
                <a:solidFill>
                  <a:srgbClr val="745D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总结与展望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AD074735-AE2D-A226-3A3F-08F58710E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zh-CN" altLang="en-US" b="1" dirty="0"/>
              <a:t>劣势：</a:t>
            </a:r>
            <a:endParaRPr lang="en-US" altLang="zh-CN" b="1" dirty="0"/>
          </a:p>
          <a:p>
            <a:pPr lvl="1"/>
            <a:r>
              <a:rPr lang="zh-CN" altLang="en-US" b="1" dirty="0"/>
              <a:t>参数敏感：</a:t>
            </a:r>
            <a:r>
              <a:rPr lang="zh-CN" altLang="zh-CN" dirty="0"/>
              <a:t>无法自适应地决定聚类个数</a:t>
            </a:r>
            <a:r>
              <a:rPr lang="zh-CN" altLang="en-US" dirty="0"/>
              <a:t>、代表点数量等，需要人工调参。</a:t>
            </a:r>
            <a:endParaRPr lang="en-US" altLang="zh-CN" dirty="0"/>
          </a:p>
          <a:p>
            <a:pPr lvl="1"/>
            <a:r>
              <a:rPr lang="zh-CN" altLang="en-US" b="1" dirty="0"/>
              <a:t>无法动态聚类：</a:t>
            </a:r>
            <a:r>
              <a:rPr lang="zh-CN" altLang="zh-CN" dirty="0"/>
              <a:t>目前的算法主要针对静态数据集，</a:t>
            </a:r>
            <a:r>
              <a:rPr lang="zh-CN" altLang="en-US" dirty="0"/>
              <a:t>一旦数据发生变动就需要重新聚类分析。</a:t>
            </a:r>
            <a:endParaRPr lang="en-US" altLang="zh-CN" dirty="0"/>
          </a:p>
          <a:p>
            <a:pPr lvl="1"/>
            <a:r>
              <a:rPr lang="zh-CN" altLang="en-US" b="1" dirty="0"/>
              <a:t>维度灾难：</a:t>
            </a:r>
            <a:r>
              <a:rPr lang="zh-CN" altLang="en-US" dirty="0"/>
              <a:t>算法使用了</a:t>
            </a:r>
            <a:r>
              <a:rPr lang="en-US" altLang="zh-CN" dirty="0"/>
              <a:t>KD-Tree</a:t>
            </a:r>
            <a:r>
              <a:rPr lang="zh-CN" altLang="en-US"/>
              <a:t>划分，在高维数据上仍然会降低效率。</a:t>
            </a:r>
            <a:endParaRPr lang="en-US" altLang="zh-CN" b="1" dirty="0"/>
          </a:p>
          <a:p>
            <a:r>
              <a:rPr lang="zh-CN" altLang="en-US" b="1" dirty="0"/>
              <a:t>展望：</a:t>
            </a:r>
            <a:endParaRPr lang="en-US" altLang="zh-CN" b="1" dirty="0"/>
          </a:p>
          <a:p>
            <a:pPr lvl="1"/>
            <a:r>
              <a:rPr lang="zh-CN" altLang="en-US" b="1" dirty="0"/>
              <a:t>自适应参数：</a:t>
            </a:r>
            <a:r>
              <a:rPr lang="zh-CN" altLang="en-US" dirty="0"/>
              <a:t>未来可探索自适应参数调整机制。</a:t>
            </a:r>
            <a:endParaRPr lang="en-US" altLang="zh-CN" b="1" dirty="0"/>
          </a:p>
          <a:p>
            <a:pPr lvl="1"/>
            <a:r>
              <a:rPr lang="zh-CN" altLang="en-US" b="1" dirty="0"/>
              <a:t>提高效率：</a:t>
            </a:r>
            <a:r>
              <a:rPr lang="zh-CN" altLang="zh-CN" dirty="0"/>
              <a:t>引入并行计算</a:t>
            </a:r>
            <a:r>
              <a:rPr lang="zh-CN" altLang="en-US" dirty="0"/>
              <a:t>等</a:t>
            </a:r>
            <a:r>
              <a:rPr lang="zh-CN" altLang="zh-CN" dirty="0"/>
              <a:t>策略</a:t>
            </a:r>
            <a:r>
              <a:rPr lang="zh-CN" altLang="en-US" dirty="0"/>
              <a:t>提升处理速度。</a:t>
            </a:r>
            <a:endParaRPr lang="en-US" altLang="zh-CN" dirty="0"/>
          </a:p>
          <a:p>
            <a:pPr lvl="1"/>
            <a:r>
              <a:rPr lang="zh-CN" altLang="en-US" b="1" dirty="0"/>
              <a:t>适应动态数据：</a:t>
            </a:r>
            <a:r>
              <a:rPr lang="zh-CN" altLang="en-US" dirty="0"/>
              <a:t>探索如何将</a:t>
            </a:r>
            <a:r>
              <a:rPr lang="en-US" altLang="zh-CN" dirty="0"/>
              <a:t>FASCA</a:t>
            </a:r>
            <a:r>
              <a:rPr lang="zh-CN" altLang="en-US" dirty="0"/>
              <a:t>扩展至动态演变的数据场景中。</a:t>
            </a:r>
            <a:endParaRPr lang="en-US" altLang="zh-CN" b="1" dirty="0"/>
          </a:p>
          <a:p>
            <a:pPr lvl="1"/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26282552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968EE-8B5E-B69B-7428-54A278646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6FEB4484-F19F-3869-A3A6-C1C374E5E348}"/>
              </a:ext>
            </a:extLst>
          </p:cNvPr>
          <p:cNvSpPr/>
          <p:nvPr/>
        </p:nvSpPr>
        <p:spPr>
          <a:xfrm>
            <a:off x="0" y="1368057"/>
            <a:ext cx="12192000" cy="2551814"/>
          </a:xfrm>
          <a:prstGeom prst="rect">
            <a:avLst/>
          </a:prstGeom>
          <a:solidFill>
            <a:srgbClr val="745D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D1E9194-798B-2BA7-E73D-5DE196B42C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5888" y="1450164"/>
            <a:ext cx="9144000" cy="2387600"/>
          </a:xfrm>
        </p:spPr>
        <p:txBody>
          <a:bodyPr anchor="ctr"/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谢谢观看！</a:t>
            </a:r>
          </a:p>
        </p:txBody>
      </p:sp>
    </p:spTree>
    <p:extLst>
      <p:ext uri="{BB962C8B-B14F-4D97-AF65-F5344CB8AC3E}">
        <p14:creationId xmlns:p14="http://schemas.microsoft.com/office/powerpoint/2010/main" val="2757030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859</TotalTime>
  <Words>1388</Words>
  <Application>Microsoft Office PowerPoint</Application>
  <PresentationFormat>宽屏</PresentationFormat>
  <Paragraphs>422</Paragraphs>
  <Slides>32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0" baseType="lpstr">
      <vt:lpstr>等线</vt:lpstr>
      <vt:lpstr>等线 Light</vt:lpstr>
      <vt:lpstr>微软雅黑</vt:lpstr>
      <vt:lpstr>Arial</vt:lpstr>
      <vt:lpstr>Cambria Math</vt:lpstr>
      <vt:lpstr>Georgia</vt:lpstr>
      <vt:lpstr>Times New Roman</vt:lpstr>
      <vt:lpstr>Office 主题​​</vt:lpstr>
      <vt:lpstr>面向任意形状数据的  快速聚类算法研究</vt:lpstr>
      <vt:lpstr>目录</vt:lpstr>
      <vt:lpstr>1.研究背景与意义</vt:lpstr>
      <vt:lpstr>目录</vt:lpstr>
      <vt:lpstr>2. FASCA算法设计思路</vt:lpstr>
      <vt:lpstr>2. FASCA算法设计思路</vt:lpstr>
      <vt:lpstr>2. FASCA算法设计思路</vt:lpstr>
      <vt:lpstr>2. FASCA算法设计思路</vt:lpstr>
      <vt:lpstr>2. FASCA算法设计思路</vt:lpstr>
      <vt:lpstr>2. FASCA算法设计思路</vt:lpstr>
      <vt:lpstr>目录</vt:lpstr>
      <vt:lpstr>3.算法总结与分析</vt:lpstr>
      <vt:lpstr>3.算法总结与分析</vt:lpstr>
      <vt:lpstr>目录</vt:lpstr>
      <vt:lpstr>4. 实验环境与设置</vt:lpstr>
      <vt:lpstr>4. 实验环境与设置</vt:lpstr>
      <vt:lpstr>4. 实验环境与设置</vt:lpstr>
      <vt:lpstr>4. 实验环境与设置</vt:lpstr>
      <vt:lpstr>4. 实验环境与设置</vt:lpstr>
      <vt:lpstr>4. 实验环境与设置</vt:lpstr>
      <vt:lpstr>目录</vt:lpstr>
      <vt:lpstr>5. 实验结果分析</vt:lpstr>
      <vt:lpstr>5. 实验结果分析</vt:lpstr>
      <vt:lpstr>5. 实验结果分析</vt:lpstr>
      <vt:lpstr>5. 实验结果分析</vt:lpstr>
      <vt:lpstr>5. 实验结果分析</vt:lpstr>
      <vt:lpstr>5. 实验结果分析</vt:lpstr>
      <vt:lpstr>5. 实验结果分析</vt:lpstr>
      <vt:lpstr>目录</vt:lpstr>
      <vt:lpstr>6. 总结与展望</vt:lpstr>
      <vt:lpstr>6. 总结与展望</vt:lpstr>
      <vt:lpstr>谢谢观看！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Sk Wei</dc:creator>
  <cp:lastModifiedBy>Sk Wei</cp:lastModifiedBy>
  <cp:revision>305</cp:revision>
  <dcterms:created xsi:type="dcterms:W3CDTF">2026-05-05T04:14:05Z</dcterms:created>
  <dcterms:modified xsi:type="dcterms:W3CDTF">2026-05-07T14:15:36Z</dcterms:modified>
</cp:coreProperties>
</file>